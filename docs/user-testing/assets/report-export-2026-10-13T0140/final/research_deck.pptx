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theme/theme1.xml" ContentType="application/vnd.openxmlformats-officedocument.them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master"/>
  </p:sldMasterIdLst>
  <p:sldIdLst>
    <p:sldId id="257" r:id="s1"/>
    <p:sldId id="258" r:id="s2"/>
    <p:sldId id="259" r:id="s3"/>
    <p:sldId id="260" r:id="s4"/>
    <p:sldId id="261" r:id="s5"/>
    <p:sldId id="262" r:id="s6"/>
    <p:sldId id="263" r:id="s7"/>
    <p:sldId id="264" r:id="s8"/>
    <p:sldId id="265" r:id="s9"/>
    <p:sldId id="266" r:id="s10"/>
    <p:sldId id="267" r:id="s11"/>
    <p:sldId id="268" r:id="s12"/>
    <p:sldId id="269" r:id="s13"/>
    <p:sldId id="270" r:id="s14"/>
    <p:sldId id="271" r:id="s15"/>
    <p:sldId id="272" r:id="s16"/>
    <p:sldId id="273" r:id="s17"/>
    <p:sldId id="274" r:id="s18"/>
    <p:sldId id="275" r:id="s19"/>
    <p:sldId id="276" r:id="s20"/>
    <p:sldId id="277" r:id="s21"/>
    <p:sldId id="278" r:id="s22"/>
    <p:sldId id="279" r:id="s23"/>
    <p:sldId id="280" r:id="s24"/>
    <p:sldId id="281" r:id="s25"/>
    <p:sldId id="282" r:id="s26"/>
    <p:sldId id="283" r:id="s27"/>
    <p:sldId id="284" r:id="s28"/>
    <p:sldId id="285" r:id="s29"/>
    <p:sldId id="286" r:id="s30"/>
    <p:sldId id="287" r:id="s31"/>
    <p:sldId id="288" r:id="s32"/>
    <p:sldId id="289" r:id="s33"/>
    <p:sldId id="290" r:id="s34"/>
    <p:sldId id="291" r:id="s35"/>
    <p:sldId id="292" r:id="s36"/>
    <p:sldId id="293" r:id="s37"/>
    <p:sldId id="294" r:id="s38"/>
    <p:sldId id="295" r:id="s39"/>
    <p:sldId id="296" r:id="s40"/>
    <p:sldId id="297" r:id="s41"/>
    <p:sldId id="298" r:id="s42"/>
    <p:sldId id="299" r:id="s43"/>
    <p:sldId id="300" r:id="s44"/>
    <p:sldId id="301" r:id="s45"/>
    <p:sldId id="302" r:id="s46"/>
    <p:sldId id="303" r:id="s47"/>
    <p:sldId id="304" r:id="s48"/>
    <p:sldId id="305" r:id="s49"/>
    <p:sldId id="306" r:id="s50"/>
    <p:sldId id="307" r:id="s51"/>
    <p:sldId id="308" r:id="s52"/>
    <p:sldId id="309" r:id="s53"/>
    <p:sldId id="310" r:id="s54"/>
    <p:sldId id="311" r:id="s55"/>
    <p:sldId id="312" r:id="s56"/>
    <p:sldId id="313" r:id="s57"/>
    <p:sldId id="314" r:id="s58"/>
    <p:sldId id="315" r:id="s59"/>
    <p:sldId id="316" r:id="s60"/>
    <p:sldId id="317" r:id="s61"/>
  </p:sldIdLst>
  <p:sldSz cx="12192000" cy="6858000"/>
  <p:notesSz cx="6858000" cy="9144000"/>
</p:presentation>
</file>

<file path=ppt/_rels/presentation.xml.rels><Relationships xmlns="http://schemas.openxmlformats.org/package/2006/relationships"><Relationship Id="master" Type="http://schemas.openxmlformats.org/officeDocument/2006/relationships/slideMaster" Target="slideMasters/slideMaster1.xml"/><Relationship Id="s1" Type="http://schemas.openxmlformats.org/officeDocument/2006/relationships/slide" Target="slides/slide1.xml"/><Relationship Id="s2" Type="http://schemas.openxmlformats.org/officeDocument/2006/relationships/slide" Target="slides/slide2.xml"/><Relationship Id="s3" Type="http://schemas.openxmlformats.org/officeDocument/2006/relationships/slide" Target="slides/slide3.xml"/><Relationship Id="s4" Type="http://schemas.openxmlformats.org/officeDocument/2006/relationships/slide" Target="slides/slide4.xml"/><Relationship Id="s5" Type="http://schemas.openxmlformats.org/officeDocument/2006/relationships/slide" Target="slides/slide5.xml"/><Relationship Id="s6" Type="http://schemas.openxmlformats.org/officeDocument/2006/relationships/slide" Target="slides/slide6.xml"/><Relationship Id="s7" Type="http://schemas.openxmlformats.org/officeDocument/2006/relationships/slide" Target="slides/slide7.xml"/><Relationship Id="s8" Type="http://schemas.openxmlformats.org/officeDocument/2006/relationships/slide" Target="slides/slide8.xml"/><Relationship Id="s9" Type="http://schemas.openxmlformats.org/officeDocument/2006/relationships/slide" Target="slides/slide9.xml"/><Relationship Id="s10" Type="http://schemas.openxmlformats.org/officeDocument/2006/relationships/slide" Target="slides/slide10.xml"/><Relationship Id="s11" Type="http://schemas.openxmlformats.org/officeDocument/2006/relationships/slide" Target="slides/slide11.xml"/><Relationship Id="s12" Type="http://schemas.openxmlformats.org/officeDocument/2006/relationships/slide" Target="slides/slide12.xml"/><Relationship Id="s13" Type="http://schemas.openxmlformats.org/officeDocument/2006/relationships/slide" Target="slides/slide13.xml"/><Relationship Id="s14" Type="http://schemas.openxmlformats.org/officeDocument/2006/relationships/slide" Target="slides/slide14.xml"/><Relationship Id="s15" Type="http://schemas.openxmlformats.org/officeDocument/2006/relationships/slide" Target="slides/slide15.xml"/><Relationship Id="s16" Type="http://schemas.openxmlformats.org/officeDocument/2006/relationships/slide" Target="slides/slide16.xml"/><Relationship Id="s17" Type="http://schemas.openxmlformats.org/officeDocument/2006/relationships/slide" Target="slides/slide17.xml"/><Relationship Id="s18" Type="http://schemas.openxmlformats.org/officeDocument/2006/relationships/slide" Target="slides/slide18.xml"/><Relationship Id="s19" Type="http://schemas.openxmlformats.org/officeDocument/2006/relationships/slide" Target="slides/slide19.xml"/><Relationship Id="s20" Type="http://schemas.openxmlformats.org/officeDocument/2006/relationships/slide" Target="slides/slide20.xml"/><Relationship Id="s21" Type="http://schemas.openxmlformats.org/officeDocument/2006/relationships/slide" Target="slides/slide21.xml"/><Relationship Id="s22" Type="http://schemas.openxmlformats.org/officeDocument/2006/relationships/slide" Target="slides/slide22.xml"/><Relationship Id="s23" Type="http://schemas.openxmlformats.org/officeDocument/2006/relationships/slide" Target="slides/slide23.xml"/><Relationship Id="s24" Type="http://schemas.openxmlformats.org/officeDocument/2006/relationships/slide" Target="slides/slide24.xml"/><Relationship Id="s25" Type="http://schemas.openxmlformats.org/officeDocument/2006/relationships/slide" Target="slides/slide25.xml"/><Relationship Id="s26" Type="http://schemas.openxmlformats.org/officeDocument/2006/relationships/slide" Target="slides/slide26.xml"/><Relationship Id="s27" Type="http://schemas.openxmlformats.org/officeDocument/2006/relationships/slide" Target="slides/slide27.xml"/><Relationship Id="s28" Type="http://schemas.openxmlformats.org/officeDocument/2006/relationships/slide" Target="slides/slide28.xml"/><Relationship Id="s29" Type="http://schemas.openxmlformats.org/officeDocument/2006/relationships/slide" Target="slides/slide29.xml"/><Relationship Id="s30" Type="http://schemas.openxmlformats.org/officeDocument/2006/relationships/slide" Target="slides/slide30.xml"/><Relationship Id="s31" Type="http://schemas.openxmlformats.org/officeDocument/2006/relationships/slide" Target="slides/slide31.xml"/><Relationship Id="s32" Type="http://schemas.openxmlformats.org/officeDocument/2006/relationships/slide" Target="slides/slide32.xml"/><Relationship Id="s33" Type="http://schemas.openxmlformats.org/officeDocument/2006/relationships/slide" Target="slides/slide33.xml"/><Relationship Id="s34" Type="http://schemas.openxmlformats.org/officeDocument/2006/relationships/slide" Target="slides/slide34.xml"/><Relationship Id="s35" Type="http://schemas.openxmlformats.org/officeDocument/2006/relationships/slide" Target="slides/slide35.xml"/><Relationship Id="s36" Type="http://schemas.openxmlformats.org/officeDocument/2006/relationships/slide" Target="slides/slide36.xml"/><Relationship Id="s37" Type="http://schemas.openxmlformats.org/officeDocument/2006/relationships/slide" Target="slides/slide37.xml"/><Relationship Id="s38" Type="http://schemas.openxmlformats.org/officeDocument/2006/relationships/slide" Target="slides/slide38.xml"/><Relationship Id="s39" Type="http://schemas.openxmlformats.org/officeDocument/2006/relationships/slide" Target="slides/slide39.xml"/><Relationship Id="s40" Type="http://schemas.openxmlformats.org/officeDocument/2006/relationships/slide" Target="slides/slide40.xml"/><Relationship Id="s41" Type="http://schemas.openxmlformats.org/officeDocument/2006/relationships/slide" Target="slides/slide41.xml"/><Relationship Id="s42" Type="http://schemas.openxmlformats.org/officeDocument/2006/relationships/slide" Target="slides/slide42.xml"/><Relationship Id="s43" Type="http://schemas.openxmlformats.org/officeDocument/2006/relationships/slide" Target="slides/slide43.xml"/><Relationship Id="s44" Type="http://schemas.openxmlformats.org/officeDocument/2006/relationships/slide" Target="slides/slide44.xml"/><Relationship Id="s45" Type="http://schemas.openxmlformats.org/officeDocument/2006/relationships/slide" Target="slides/slide45.xml"/><Relationship Id="s46" Type="http://schemas.openxmlformats.org/officeDocument/2006/relationships/slide" Target="slides/slide46.xml"/><Relationship Id="s47" Type="http://schemas.openxmlformats.org/officeDocument/2006/relationships/slide" Target="slides/slide47.xml"/><Relationship Id="s48" Type="http://schemas.openxmlformats.org/officeDocument/2006/relationships/slide" Target="slides/slide48.xml"/><Relationship Id="s49" Type="http://schemas.openxmlformats.org/officeDocument/2006/relationships/slide" Target="slides/slide49.xml"/><Relationship Id="s50" Type="http://schemas.openxmlformats.org/officeDocument/2006/relationships/slide" Target="slides/slide50.xml"/><Relationship Id="s51" Type="http://schemas.openxmlformats.org/officeDocument/2006/relationships/slide" Target="slides/slide51.xml"/><Relationship Id="s52" Type="http://schemas.openxmlformats.org/officeDocument/2006/relationships/slide" Target="slides/slide52.xml"/><Relationship Id="s53" Type="http://schemas.openxmlformats.org/officeDocument/2006/relationships/slide" Target="slides/slide53.xml"/><Relationship Id="s54" Type="http://schemas.openxmlformats.org/officeDocument/2006/relationships/slide" Target="slides/slide54.xml"/><Relationship Id="s55" Type="http://schemas.openxmlformats.org/officeDocument/2006/relationships/slide" Target="slides/slide55.xml"/><Relationship Id="s56" Type="http://schemas.openxmlformats.org/officeDocument/2006/relationships/slide" Target="slides/slide56.xml"/><Relationship Id="s57" Type="http://schemas.openxmlformats.org/officeDocument/2006/relationships/slide" Target="slides/slide57.xml"/><Relationship Id="s58" Type="http://schemas.openxmlformats.org/officeDocument/2006/relationships/slide" Target="slides/slide58.xml"/><Relationship Id="s59" Type="http://schemas.openxmlformats.org/officeDocument/2006/relationships/slide" Target="slides/slide59.xml"/><Relationship Id="s60" Type="http://schemas.openxmlformats.org/officeDocument/2006/relationships/slide" Target="slides/slide60.xml"/><Relationship Id="s61" Type="http://schemas.openxmlformats.org/officeDocument/2006/relationships/slide" Target="slides/slide61.xml"/></Relationships>
</file>

<file path=ppt/slideLayouts/_rels/slideLayout1.xml.rels><Relationships xmlns="http://schemas.openxmlformats.org/package/2006/relationships"><Relationship Id="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Relationships xmlns="http://schemas.openxmlformats.org/package/2006/relationships"><Relationship Id="layout" Type="http://schemas.openxmlformats.org/officeDocument/2006/relationships/slideLayout" Target="../slideLayouts/slideLayout1.xml"/><Relationship Id="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layout"/>
  </p:sldLayoutIdLst>
  <p:txStyles>
    <p:titleStyle/>
    <p:bodyStyle/>
    <p:otherStyle/>
  </p:txStyles>
</p:sldMaster>
</file>

<file path=ppt/slides/_rels/slide1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2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3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4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5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6.xml.rels><Relationships xmlns="http://schemas.openxmlformats.org/package/2006/relationships"><Relationship Id="layout" Type="http://schemas.openxmlformats.org/officeDocument/2006/relationships/slideLayout" Target="../slideLayouts/slideLayout1.xml"/><Relationship Id="image" Type="http://schemas.openxmlformats.org/officeDocument/2006/relationships/image" Target="../media/image6.png"/></Relationships>
</file>

<file path=ppt/slides/_rels/slide7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8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9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10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11.xml.rels><Relationships xmlns="http://schemas.openxmlformats.org/package/2006/relationships"><Relationship Id="layout" Type="http://schemas.openxmlformats.org/officeDocument/2006/relationships/slideLayout" Target="../slideLayouts/slideLayout1.xml"/><Relationship Id="image" Type="http://schemas.openxmlformats.org/officeDocument/2006/relationships/image" Target="../media/image11.png"/></Relationships>
</file>

<file path=ppt/slides/_rels/slide12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13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14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15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16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17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18.xml.rels><Relationships xmlns="http://schemas.openxmlformats.org/package/2006/relationships"><Relationship Id="layout" Type="http://schemas.openxmlformats.org/officeDocument/2006/relationships/slideLayout" Target="../slideLayouts/slideLayout1.xml"/><Relationship Id="image" Type="http://schemas.openxmlformats.org/officeDocument/2006/relationships/image" Target="../media/image18.png"/></Relationships>
</file>

<file path=ppt/slides/_rels/slide19.xml.rels><Relationships xmlns="http://schemas.openxmlformats.org/package/2006/relationships"><Relationship Id="layout" Type="http://schemas.openxmlformats.org/officeDocument/2006/relationships/slideLayout" Target="../slideLayouts/slideLayout1.xml"/><Relationship Id="image" Type="http://schemas.openxmlformats.org/officeDocument/2006/relationships/image" Target="../media/image19.png"/></Relationships>
</file>

<file path=ppt/slides/_rels/slide20.xml.rels><Relationships xmlns="http://schemas.openxmlformats.org/package/2006/relationships"><Relationship Id="layout" Type="http://schemas.openxmlformats.org/officeDocument/2006/relationships/slideLayout" Target="../slideLayouts/slideLayout1.xml"/><Relationship Id="image" Type="http://schemas.openxmlformats.org/officeDocument/2006/relationships/image" Target="../media/image20.png"/></Relationships>
</file>

<file path=ppt/slides/_rels/slide21.xml.rels><Relationships xmlns="http://schemas.openxmlformats.org/package/2006/relationships"><Relationship Id="layout" Type="http://schemas.openxmlformats.org/officeDocument/2006/relationships/slideLayout" Target="../slideLayouts/slideLayout1.xml"/><Relationship Id="image" Type="http://schemas.openxmlformats.org/officeDocument/2006/relationships/image" Target="../media/image21.png"/></Relationships>
</file>

<file path=ppt/slides/_rels/slide22.xml.rels><Relationships xmlns="http://schemas.openxmlformats.org/package/2006/relationships"><Relationship Id="layout" Type="http://schemas.openxmlformats.org/officeDocument/2006/relationships/slideLayout" Target="../slideLayouts/slideLayout1.xml"/><Relationship Id="image" Type="http://schemas.openxmlformats.org/officeDocument/2006/relationships/image" Target="../media/image22.png"/></Relationships>
</file>

<file path=ppt/slides/_rels/slide23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24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25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26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27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28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29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30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31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32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33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34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35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36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37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38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39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40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41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42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43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44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45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46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47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48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49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50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51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52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53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54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55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56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57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58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59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60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61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CA-PP 3 项（含带外镜像族）消融实验报告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MARS · 已审核研究报告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pimc_ca_pp_3term_g1c17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任务：2026-10-13T0140_pimc_ca_pp_3term_g1c17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生成：2026-10-13 04:47:42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数据来源：真实作业回执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结论概要：参数量 4704 ≤ 基线×80%（5427.2）· 对消增益 17.210 dB ≥ 基线 17.175 dB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1 / 61</a:t>
            </a:r>
            <a:endParaRPr sz="10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目录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1  研究目的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2  关键原理（模型框图 · 公式）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3  尝试的方案路径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4  实验设计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5  实验结果（图表 · 判读）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6  结论（达标判定）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7  边界与证据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附录 · 已审核报告原文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2 / 61</a:t>
            </a:r>
            <a:endParaRPr sz="10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1 研究目的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本报告检验唯一目标：在载波分辨 PP 族基中加入带外镜像族 [[0,2],[1,-1]]（2c0−c1）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及其频移 −162.494 MHz 后，单频 group1 case17 的对消改善是否发生净变化。自变量仅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为 ca_terms 项数（2 项 → 3 项），其余条件（数据、seed、预算、模型、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build_L1C:false、share_L30_across_terms:true 等）逐字保持一致。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结论：本轮四臂（A 基线重跑 / B ca_pp_2term / C ca_pp_3term / D ca_k1_control）全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部 status=completed，failures=0（execution/batch_summary.json）。处理臂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 C improvement_db = 17.20984，相对对照臂 B 的 17.18968 净差值 +0.02016 dB（≥0），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相对本轮同快照基线 A 的 17.17516 高出 +0.03468 dB；参数量实数等效量 4704（= 基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线 6784 的 69.3% ≤ 80% 门限 5427.2）。因此在本轮同快照口径下 C 同时满足「参数量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≤ 5427.2」与「improvement_db ≥ 合同门限 17.175」两项达标条件。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必须同时声明的限制：本结论基于单 seed（42）单数据集（singleband_g1_c17）单 case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3 / 61</a:t>
            </a:r>
            <a:endParaRPr sz="10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1 研究目的（续）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（case17）单次运行，净差值幅度（+0.02 dB 量级）与最大残差指标（C 的 maxRES 反而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高于 B 约 +0.357 dB）之间存在方向不一致，不能外推为「带外镜像族普适有效」的结论，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只能登记为「在本次设置下未观察到劣化且均值判据略优」的待验证假设。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在其余条件与上一轮完全一致时，把载波分辨 PP 族基由 2 项（0 阶全带锚点 full + 观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察带内 IM3 族 [[1,2],[0,-1]]）扩展为 3 项（追加带外镜像族 [[0,2],[1,-1]]）后：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H1（参数量）：parameters_real_equivalent 保持 4704 不变（相对基线 6784 的 69.3% 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≤ 80%）。H2（性能）：improvement_db 相对 2 项对照的净差值 ≥ 0（不劣化），且不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劣于合同固定门限 17.175。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若净差值 &lt; 0，则说明带外镜像族（其族中心位于观察带外）对带内 PIM 对消无正贡献或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引入干扰——这正是本消融要判定的事实。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4 / 61</a:t>
            </a:r>
            <a:endParaRPr sz="10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可证伪假设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必须同时声明的限制：本结论基于单 seed（42）单数据集（singleband_g1_c17）单 case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（case17）单次运行，净差值幅度（+0.02 dB 量级）与最大残差指标（C 的 maxRES 反而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高于 B 约 +0.357 dB）之间存在方向不一致，不能外推为「带外镜像族普适有效」的结论，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只能登记为「在本次设置下未观察到劣化且均值判据略优」的待验证假设。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5 / 61</a:t>
            </a:r>
            <a:endParaRPr sz="10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2 关键原理 · 模型结构</a:t>
            </a:r>
            <a:endParaRPr sz="2800"/>
          </a:p>
        </p:txBody>
      </p:sp>
      <p:pic>
        <p:nvPicPr>
          <p:cNvPr id="4" name="Recorded curve"/>
          <p:cNvPicPr/>
          <p:nvPr/>
        </p:nvPicPr>
        <p:blipFill>
          <a:blip r:embed="image"/>
          <a:stretch>
            <a:fillRect/>
          </a:stretch>
        </p:blipFill>
        <p:spPr>
          <a:xfrm>
            <a:off x="1675212" y="1500000"/>
            <a:ext cx="8841575" cy="4400000"/>
          </a:xfrm>
          <a:prstGeom prst="rect">
            <a:avLst/>
          </a:prstGeom>
        </p:spPr>
      </p:pic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6 / 61</a:t>
            </a:r>
            <a:endParaRPr sz="10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2 关键原理 · 方法说明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项目研究多通道基站无源互调（PIM）对消：由已知 TX 基带 IQ 预测落入 RX 带的 PIM 并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减去（见项目 README.md）。本地单频参考场景的 TX 实为双载波（载波带宽 5/10 MHz，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位于下行带内），因此即使在「单频段」语义下也存在载波间互调 2c1−c0、2c0−c1 等族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基项。PP（物理先验）用于显式注入互调项的射频中心与相对 RX 的频移，把幅度非线性交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给 LUT，把频率位置交给固定相位搬移（README.md 第 6 节）。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净改动 3 个文件，均已在代码层面复核：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未改动受保护路径 baseline/、评测器 main.py::evaluate_saved、训练入口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 tools/mars_train.py 与模型 libs/Model.py。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模型 libs/Model.py::_parse_ca_config 语义为：期望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 shift = ca_term_center_mhz(term) − f_rx，与配置 pp_shifts_mhz 偏差超 1e-3 即抛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 ValueError。据载波 [[-9.799,4.927],[35.196,4.916]]、f_rx = 107.7：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7 / 61</a:t>
            </a:r>
            <a:endParaRPr sz="10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2 关键原理 · 方法说明（续）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ca_term | 族中心 (MHz) | 期望 shift | 配置值 | 观察带关系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full | 0 | −107.7 | −107.7 | 锚点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[[1,2],[0,-1]]  = 2c1−c0 = 80.191 | 80.191 | −27.509 | −27.509 | 落在观察带 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−27.5±2.5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[[0,2],[1,-1]]  = 2c0−c1 = −54.794 | −54.794 | −162.494 | −162.494 | 带外镜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像族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三项自洽，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tests/test_ca_pp_3term.py::test_three_term_shift_consistency_from_carriers 在真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实配置上复算通过。configs/singleband_g1_c17_ca_pp_keepL1C.yaml 仅作为第 3 项与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 shift 的参考（其 build_L1C:true），不作本轮主配置。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8 / 61</a:t>
            </a:r>
            <a:endParaRPr sz="10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2 关键原理 · 方法说明 · 对照表（1）</a:t>
            </a:r>
            <a:endParaRPr sz="2800"/>
          </a:p>
        </p:txBody>
      </p:sp>
      <p:graphicFrame>
        <p:nvGraphicFramePr>
          <p:cNvPr id="4" name="Editable results table"/>
          <p:cNvGraphicFramePr/>
          <p:nvPr/>
        </p:nvGraphicFramePr>
        <p:xfrm>
          <a:off x="700000" y="1500000"/>
          <a:ext cx="10800000" cy="1560000"/>
        </p:xfrm>
        <a:graphic>
          <a:graphicData uri="http://schemas.openxmlformats.org/drawingml/2006/table">
            <a:tbl>
              <a:tblPr firstRow="1" bandRow="1"/>
              <a:tblGrid>
                <a:gridCol w="3600000"/>
                <a:gridCol w="3600000"/>
                <a:gridCol w="3600000"/>
              </a:tblGrid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文件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类型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说明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configs/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singleband_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g1_c17_ca_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pp_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3term.yaml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added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由 2 项对照配置派生，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仅改  output 、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追加  pp_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shifts_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mhz: -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162.494  与  ca_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terms: {carriers: [[0,2],[1,-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1]]}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tests/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test_ca_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pp_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3term.py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added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4 个用例：与 2 项逐字差异、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shift 一致性、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模型激活与实数参数量 4704 与前向有限、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shift 篡改抛  ValueError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9 / 61</a:t>
            </a:r>
            <a:endParaRPr sz="10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2 关键原理 · 方法说明 · 对照表（2）</a:t>
            </a:r>
            <a:endParaRPr sz="2800"/>
          </a:p>
        </p:txBody>
      </p:sp>
      <p:graphicFrame>
        <p:nvGraphicFramePr>
          <p:cNvPr id="4" name="Editable results table"/>
          <p:cNvGraphicFramePr/>
          <p:nvPr/>
        </p:nvGraphicFramePr>
        <p:xfrm>
          <a:off x="700000" y="1500000"/>
          <a:ext cx="10800000" cy="1040000"/>
        </p:xfrm>
        <a:graphic>
          <a:graphicData uri="http://schemas.openxmlformats.org/drawingml/2006/table">
            <a:tbl>
              <a:tblPr firstRow="1" bandRow="1"/>
              <a:tblGrid>
                <a:gridCol w="3600000"/>
                <a:gridCol w="3600000"/>
                <a:gridCol w="3600000"/>
              </a:tblGrid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文件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类型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说明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tests/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test_mars_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train_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protocol.py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modified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在  APPROVED_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CONFIGS  字典登记  ca_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pp_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3term  一行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10 / 61</a:t>
            </a:r>
            <a:endParaRPr sz="10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3 尝试的方案路径</a:t>
            </a:r>
            <a:endParaRPr sz="2800"/>
          </a:p>
        </p:txBody>
      </p:sp>
      <p:pic>
        <p:nvPicPr>
          <p:cNvPr id="4" name="Recorded curve"/>
          <p:cNvPicPr/>
          <p:nvPr/>
        </p:nvPicPr>
        <p:blipFill>
          <a:blip r:embed="image"/>
          <a:stretch>
            <a:fillRect/>
          </a:stretch>
        </p:blipFill>
        <p:spPr>
          <a:xfrm>
            <a:off x="696000" y="1500000"/>
            <a:ext cx="10800000" cy="4060150"/>
          </a:xfrm>
          <a:prstGeom prst="rect">
            <a:avLst/>
          </a:prstGeom>
        </p:spPr>
      </p:pic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11 / 61</a:t>
            </a:r>
            <a:endParaRPr sz="10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3 方案路径 · 实验角色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A_baseline_rerun（基线（对照锚点））：同条件重跑，提供参数量与性能分母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B_ca_pp_2term（上轮候选（对照））：载波分辨 2 项配置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C_ca_pp_3term（本轮候选）：在 2 项基础上追加带外镜像族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D_ca_k1_control（退化对照）：隔离结构改动本身的效应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12 / 61</a:t>
            </a:r>
            <a:endParaRPr sz="10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4 实验设计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自变量（唯一）：ca_terms 项数 2 vs 3，差异仅在是否纳入带外镜像族与其 shift。控制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变量（逐字一致）：数据 singleband_g1_c17，16 通道 (16,30720)；seed=42；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budget_steps=3588；build_L1C=false；share_L30_across_terms=true；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pp_shift_mode=anchor；f_rx_mhz=107.7；前两项 pp_shifts_mhz=-107.7/-27.509；模型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 MD7L_FCLNFC_2lut_tf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（Ntx/Nrx/Nrank/Nbranch=16, Nspline=32, shareLUTs=1, batch_size=2048, circle_num=300, lr_init=1e-3）；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评测协议 eval_centers_mhz=-27.5, BW_PIM=5.0, eval_trim=256。因变量：主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 improvement_db；次 RES、maxRES、PER_THD、parameters_real_equivalent。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execution/batch_summary.json 报告 total=4, failures=0, max_concurrency=1，各臂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 attempt=1。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13 / 61</a:t>
            </a:r>
            <a:endParaRPr sz="10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4 实验设计（续）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按批准方案 baseline_ref.reuse_decision = rerun：由于上一轮已批准报告在本次运行上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下文中不可获取（不是本 run 的可用文件）、knowledge.baseline_match 返回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 match_score=0.0 / reuse_recommended=false，且读取元数据显示 libs/Model.py 等存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在版本漂移，无法证实「同快照复用」，故 A/B/D 与 C 在同一代码快照内重跑以保证 C−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B 与 C−基线比较的内部有效性。本轮未复用上一轮任何实测量；合同门限 6784 与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 17.175 来自任务合同与代码断言，非本轮测量。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配置矩阵名义预算为 budget_steps=3588（= circle_samelayer × (circle_num −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 1) = 12 × 299）。但四臂实测 optimizer_steps = 3289（见 execution/metrics.json），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由训练循环的边界批次裁剪决定。四臂在 optimizer_steps 上逐字一致（均为 3289），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故 C−B 为同实际预算对照；报告以实测 3289为准，名义 3588 不等同于实测步数。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14 / 61</a:t>
            </a:r>
            <a:endParaRPr sz="10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4 实验设计 · 对照表（1）</a:t>
            </a:r>
            <a:endParaRPr sz="2800"/>
          </a:p>
        </p:txBody>
      </p:sp>
      <p:graphicFrame>
        <p:nvGraphicFramePr>
          <p:cNvPr id="4" name="Editable results table"/>
          <p:cNvGraphicFramePr/>
          <p:nvPr/>
        </p:nvGraphicFramePr>
        <p:xfrm>
          <a:off x="700000" y="1500000"/>
          <a:ext cx="10800000" cy="2080000"/>
        </p:xfrm>
        <a:graphic>
          <a:graphicData uri="http://schemas.openxmlformats.org/drawingml/2006/table">
            <a:tbl>
              <a:tblPr firstRow="1" bandRow="1"/>
              <a:tblGrid>
                <a:gridCol w="1800000"/>
                <a:gridCol w="1800000"/>
                <a:gridCol w="1800000"/>
                <a:gridCol w="1800000"/>
                <a:gridCol w="1800000"/>
                <a:gridCol w="1800000"/>
              </a:tblGrid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臂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名称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config_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path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seed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max_iters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实际状态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A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baseline_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rerun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configs/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singleband_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g1_c17_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baseline.yaml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42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3588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completed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B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ca_pp_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2term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configs/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singleband_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g1_c17_ca_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pp.yaml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42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3588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completed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C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ca_pp_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3term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configs/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singleband_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g1_c17_ca_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pp_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3term.yaml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42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3588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completed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15 / 61</a:t>
            </a:r>
            <a:endParaRPr sz="10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4 实验设计 · 对照表（2）</a:t>
            </a:r>
            <a:endParaRPr sz="2800"/>
          </a:p>
        </p:txBody>
      </p:sp>
      <p:graphicFrame>
        <p:nvGraphicFramePr>
          <p:cNvPr id="4" name="Editable results table"/>
          <p:cNvGraphicFramePr/>
          <p:nvPr/>
        </p:nvGraphicFramePr>
        <p:xfrm>
          <a:off x="700000" y="1500000"/>
          <a:ext cx="10800000" cy="1040000"/>
        </p:xfrm>
        <a:graphic>
          <a:graphicData uri="http://schemas.openxmlformats.org/drawingml/2006/table">
            <a:tbl>
              <a:tblPr firstRow="1" bandRow="1"/>
              <a:tblGrid>
                <a:gridCol w="1800000"/>
                <a:gridCol w="1800000"/>
                <a:gridCol w="1800000"/>
                <a:gridCol w="1800000"/>
                <a:gridCol w="1800000"/>
                <a:gridCol w="1800000"/>
              </a:tblGrid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臂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名称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config_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path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seed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max_iters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实际状态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D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ca_k1_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control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configs/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singleband_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g1_c17_ca_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k1.yaml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42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3588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completed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16 / 61</a:t>
            </a:r>
            <a:endParaRPr sz="10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4 实验设计 · 四臂执行矩阵</a:t>
            </a:r>
            <a:endParaRPr sz="2800"/>
          </a:p>
        </p:txBody>
      </p:sp>
      <p:graphicFrame>
        <p:nvGraphicFramePr>
          <p:cNvPr id="4" name="Editable results table"/>
          <p:cNvGraphicFramePr/>
          <p:nvPr/>
        </p:nvGraphicFramePr>
        <p:xfrm>
          <a:off x="700000" y="1500000"/>
          <a:ext cx="10800000" cy="2600000"/>
        </p:xfrm>
        <a:graphic>
          <a:graphicData uri="http://schemas.openxmlformats.org/drawingml/2006/table">
            <a:tbl>
              <a:tblPr firstRow="1" bandRow="1"/>
              <a:tblGrid>
                <a:gridCol w="1542857"/>
                <a:gridCol w="1542857"/>
                <a:gridCol w="1542857"/>
                <a:gridCol w="1542857"/>
                <a:gridCol w="1542857"/>
                <a:gridCol w="1542857"/>
                <a:gridCol w="1542857"/>
              </a:tblGrid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实验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对消增益(dB)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RES(dB)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maxRES(dB)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PER_THD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参数量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更新步数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A_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baseline_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rerun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17.1752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5.2458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9.1878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18.69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6784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3289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B_ca_pp_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2term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17.1897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5.2313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9.0128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18.71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4704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3289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C_ca_pp_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3term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17.2098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5.2111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9.3696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18.74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4704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3289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D_ca_k1_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control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17.1752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5.2458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9.1878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18.69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4704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3289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17 / 61</a:t>
            </a:r>
            <a:endParaRPr sz="10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5 实验结果 · 参数量</a:t>
            </a:r>
            <a:endParaRPr sz="2800"/>
          </a:p>
        </p:txBody>
      </p:sp>
      <p:pic>
        <p:nvPicPr>
          <p:cNvPr id="4" name="Recorded curve"/>
          <p:cNvPicPr/>
          <p:nvPr/>
        </p:nvPicPr>
        <p:blipFill>
          <a:blip r:embed="image"/>
          <a:stretch>
            <a:fillRect/>
          </a:stretch>
        </p:blipFill>
        <p:spPr>
          <a:xfrm>
            <a:off x="2263638" y="1500000"/>
            <a:ext cx="7664723" cy="4400000"/>
          </a:xfrm>
          <a:prstGeom prst="rect">
            <a:avLst/>
          </a:prstGeom>
        </p:spPr>
      </p:pic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18 / 61</a:t>
            </a:r>
            <a:endParaRPr sz="100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5 实验结果 · 对消增益</a:t>
            </a:r>
            <a:endParaRPr sz="2800"/>
          </a:p>
        </p:txBody>
      </p:sp>
      <p:pic>
        <p:nvPicPr>
          <p:cNvPr id="4" name="Recorded curve"/>
          <p:cNvPicPr/>
          <p:nvPr/>
        </p:nvPicPr>
        <p:blipFill>
          <a:blip r:embed="image"/>
          <a:stretch>
            <a:fillRect/>
          </a:stretch>
        </p:blipFill>
        <p:spPr>
          <a:xfrm>
            <a:off x="2245197" y="1500000"/>
            <a:ext cx="7701606" cy="4400000"/>
          </a:xfrm>
          <a:prstGeom prst="rect">
            <a:avLst/>
          </a:prstGeom>
        </p:spPr>
      </p:pic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19 / 61</a:t>
            </a:r>
            <a:endParaRPr sz="100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5 实验结果 · 平均残余 RES</a:t>
            </a:r>
            <a:endParaRPr sz="2800"/>
          </a:p>
        </p:txBody>
      </p:sp>
      <p:pic>
        <p:nvPicPr>
          <p:cNvPr id="4" name="Recorded curve"/>
          <p:cNvPicPr/>
          <p:nvPr/>
        </p:nvPicPr>
        <p:blipFill>
          <a:blip r:embed="image"/>
          <a:stretch>
            <a:fillRect/>
          </a:stretch>
        </p:blipFill>
        <p:spPr>
          <a:xfrm>
            <a:off x="2283737" y="1500000"/>
            <a:ext cx="7624526" cy="4400000"/>
          </a:xfrm>
          <a:prstGeom prst="rect">
            <a:avLst/>
          </a:prstGeom>
        </p:spPr>
      </p:pic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20 / 61</a:t>
            </a:r>
            <a:endParaRPr sz="1000"/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5 实验结果 · 最大残余 maxRES</a:t>
            </a:r>
            <a:endParaRPr sz="2800"/>
          </a:p>
        </p:txBody>
      </p:sp>
      <p:pic>
        <p:nvPicPr>
          <p:cNvPr id="4" name="Recorded curve"/>
          <p:cNvPicPr/>
          <p:nvPr/>
        </p:nvPicPr>
        <p:blipFill>
          <a:blip r:embed="image"/>
          <a:stretch>
            <a:fillRect/>
          </a:stretch>
        </p:blipFill>
        <p:spPr>
          <a:xfrm>
            <a:off x="2322277" y="1500000"/>
            <a:ext cx="7547445" cy="4400000"/>
          </a:xfrm>
          <a:prstGeom prst="rect">
            <a:avLst/>
          </a:prstGeom>
        </p:spPr>
      </p:pic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21 / 61</a:t>
            </a:r>
            <a:endParaRPr sz="1000"/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5 实验结果 · 训练收敛</a:t>
            </a:r>
            <a:endParaRPr sz="2800"/>
          </a:p>
        </p:txBody>
      </p:sp>
      <p:pic>
        <p:nvPicPr>
          <p:cNvPr id="4" name="Recorded curve"/>
          <p:cNvPicPr/>
          <p:nvPr/>
        </p:nvPicPr>
        <p:blipFill>
          <a:blip r:embed="image"/>
          <a:stretch>
            <a:fillRect/>
          </a:stretch>
        </p:blipFill>
        <p:spPr>
          <a:xfrm>
            <a:off x="2455888" y="1500000"/>
            <a:ext cx="7280223" cy="4400000"/>
          </a:xfrm>
          <a:prstGeom prst="rect">
            <a:avLst/>
          </a:prstGeom>
        </p:spPr>
      </p:pic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22 / 61</a:t>
            </a:r>
            <a:endParaRPr sz="1000"/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5 实验结果 · 判读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指标方向与口径：improvement_db 越大越好；RES、maxRES 越小越好；PER_THD 为阈值口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径统计量（越高越好，具体定义见评测器 main.py::evaluate_saved）；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parameters_real_equivalent 为实数等效参数量（复数参数计 2）。PIM = 22.420933 四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臂一致，rx_rank = 12 四臂一致，covered_points = 24564 / declared_points = 24576 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四臂一致。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指标 | B (2term) | C (3term) | 净差值 (C−B) | 方向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improvement_db | 17.18968 | 17.20984 | +0.02016 | C 略优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RES | 5.23125 | 5.21109 | −0.02016 | C 略优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maxRES | 9.01284 | 9.36964 | +0.35681 | C 劣于 B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PER_THD | 18.71 | 18.74 | +0.03 | C 略优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23 / 61</a:t>
            </a:r>
            <a:endParaRPr sz="1000"/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5 实验结果 · 判读（续）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parameters_real_equivalent | 4704 | 4704 | 0 | 不变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H1 成立：C 参数量 4704，与 B 相同；share_L30_across_terms:true 使 L30 维度 = R 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与 Npp 无关，故 2/3 项参数量在结构上相等。4704/6784 = 69.3% ≤ 80%（5427.2）。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H2 在均值判据上成立：C−B 净差 +0.02016 dB ≥ 0，且 C = 17.20984 ≥ 门限 17.175。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但方向不一致：C 的 maxRES = 9.36964 是同组四臂中最大者，比 B 高 +0.35681 dB；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而 D（K=1 对照）与 A（基线）在 improvement_db/RES/maxRES/PER_THD 上逐字一致（均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 17.17516 / 5.24577 / 9.18777 / 18.69），说明 K=1 退化臂前向确与基线一致，D 的角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色校验通过。幅度评价：本轮净差值 +0.02 dB 与其他臂间/臂内散布（如 A 与 C 的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 maxRES 相差 0.18~0.36 dB）同量级，不足以在上述指标上支撑「带外镜像族带来实质性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改善」的强结论；也无法排除单 seed 的运行变差。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24 / 61</a:t>
            </a:r>
            <a:endParaRPr sz="1000"/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5 实验结果 · 判读 · 对照表</a:t>
            </a:r>
            <a:endParaRPr sz="2800"/>
          </a:p>
        </p:txBody>
      </p:sp>
      <p:graphicFrame>
        <p:nvGraphicFramePr>
          <p:cNvPr id="4" name="Editable results table"/>
          <p:cNvGraphicFramePr/>
          <p:nvPr/>
        </p:nvGraphicFramePr>
        <p:xfrm>
          <a:off x="700000" y="1500000"/>
          <a:ext cx="10800000" cy="2600000"/>
        </p:xfrm>
        <a:graphic>
          <a:graphicData uri="http://schemas.openxmlformats.org/drawingml/2006/table">
            <a:tbl>
              <a:tblPr firstRow="1" bandRow="1"/>
              <a:tblGrid>
                <a:gridCol w="1200000"/>
                <a:gridCol w="1200000"/>
                <a:gridCol w="1200000"/>
                <a:gridCol w="1200000"/>
                <a:gridCol w="1200000"/>
                <a:gridCol w="1200000"/>
                <a:gridCol w="1200000"/>
                <a:gridCol w="1200000"/>
                <a:gridCol w="1200000"/>
              </a:tblGrid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臂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improvement_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db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RES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maxRES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PER_THD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parameters_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real_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equivalent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active_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parameters_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real_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equivalent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optimizer_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steps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seconds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A baseline_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rerun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17.17516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5.24577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9.18777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18.69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6784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4704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3289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392.60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B ca_pp_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2term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17.18968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5.23125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9.01284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18.71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4704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4704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3289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530.77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C ca_pp_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3term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17.20984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5.21109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9.36964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18.74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4704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4704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3289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456.59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D ca_k1_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control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17.17516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5.24577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9.18777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18.69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4704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4704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3289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349.58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25 / 61</a:t>
            </a:r>
            <a:endParaRPr sz="1000"/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6 结论（达标判定）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诊断 diagnosis/diagnosis.v1.md 记录 passed: true、confidence: 1.0、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recommended_action: Proceed to Writing with the successful run evidence。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26 / 61</a:t>
            </a:r>
            <a:endParaRPr sz="1000"/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6 结论（达标判定） · 对照表</a:t>
            </a:r>
            <a:endParaRPr sz="2800"/>
          </a:p>
        </p:txBody>
      </p:sp>
      <p:graphicFrame>
        <p:nvGraphicFramePr>
          <p:cNvPr id="4" name="Editable results table"/>
          <p:cNvGraphicFramePr/>
          <p:nvPr/>
        </p:nvGraphicFramePr>
        <p:xfrm>
          <a:off x="700000" y="1500000"/>
          <a:ext cx="10800000" cy="2080000"/>
        </p:xfrm>
        <a:graphic>
          <a:graphicData uri="http://schemas.openxmlformats.org/drawingml/2006/table">
            <a:tbl>
              <a:tblPr firstRow="1" bandRow="1"/>
              <a:tblGrid>
                <a:gridCol w="2700000"/>
                <a:gridCol w="2700000"/>
                <a:gridCol w="2700000"/>
                <a:gridCol w="2700000"/>
              </a:tblGrid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条件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门限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C 实测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判定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参数量实数等效量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≤ 5427.2（= 6784 × 80%）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4704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满足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improvement_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db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≥ 17.175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17.20984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满足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3term 相对 2term 净差值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报告项（无门限）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+0.02016 dB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已报告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27 / 61</a:t>
            </a:r>
            <a:endParaRPr sz="1000"/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7 边界与局限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多 seed（42/其他）重复 A/B/C/D，以区分真实效应与运行变差。增加「仅带外镜像族、去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掉 IM3 带内族」的对照，判定镜像族信息的独立贡献。在 channel_performance.csv 层面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核查 C 的 maxRES 抬升来自哪些通道/方向，确认是否需要重加权。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28 / 61</a:t>
            </a:r>
            <a:endParaRPr sz="1000"/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0. 摘要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本报告检验唯一目标：在载波分辨 PP 族基中加入带外镜像族 [[0,2],[1,-1]]（2c0−c1）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及其频移 −162.494 MHz 后，单频 group1 case17 的对消改善是否发生净变化。自变量仅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为 ca_terms 项数（2 项 → 3 项），其余条件（数据、seed、预算、模型、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build_L1C:false、share_L30_across_terms:true 等）逐字保持一致。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结论：本轮四臂（A 基线重跑 / B ca_pp_2term / C ca_pp_3term / D ca_k1_control）全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部 status=completed，failures=0（execution/batch_summary.json）。处理臂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 C improvement_db = 17.20984，相对对照臂 B 的 17.18968 净差值 +0.02016 dB（≥0），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29 / 61</a:t>
            </a:r>
            <a:endParaRPr sz="1000"/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0. 摘要（续）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相对本轮同快照基线 A 的 17.17516 高出 +0.03468 dB；参数量实数等效量 4704（= 基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线 6784 的 69.3% ≤ 80% 门限 5427.2）。因此在本轮同快照口径下 C 同时满足「参数量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≤ 5427.2」与「improvement_db ≥ 合同门限 17.175」两项达标条件。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必须同时声明的限制：本结论基于单 seed（42）单数据集（singleband_g1_c17）单 case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（case17）单次运行，净差值幅度（+0.02 dB 量级）与最大残差指标（C 的 maxRES 反而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高于 B 约 +0.357 dB）之间存在方向不一致，不能外推为「带外镜像族普适有效」的结论，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只能登记为「在本次设置下未观察到劣化且均值判据略优」的待验证假设。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30 / 61</a:t>
            </a:r>
            <a:endParaRPr sz="1000"/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1.1 物理与建模背景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项目研究多通道基站无源互调（PIM）对消：由已知 TX 基带 IQ 预测落入 RX 带的 PIM 并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减去（见项目 README.md）。本地单频参考场景的 TX 实为双载波（载波带宽 5/10 MHz，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位于下行带内），因此即使在「单频段」语义下也存在载波间互调 2c1−c0、2c0−c1 等族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基项。PP（物理先验）用于显式注入互调项的射频中心与相对 RX 的频移，把幅度非线性交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给 LUT，把频率位置交给固定相位搬移（README.md 第 6 节）。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31 / 61</a:t>
            </a:r>
            <a:endParaRPr sz="1000"/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1.2 本轮唯一可证伪假设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在其余条件与上一轮完全一致时，把载波分辨 PP 族基由 2 项（0 阶全带锚点 full + 观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察带内 IM3 族 [[1,2],[0,-1]]）扩展为 3 项（追加带外镜像族 [[0,2],[1,-1]]）后：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H1（参数量）：parameters_real_equivalent 保持 4704 不变（相对基线 6784 的 69.3% 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≤ 80%）。H2（性能）：improvement_db 相对 2 项对照的净差值 ≥ 0（不劣化），且不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劣于合同固定门限 17.175。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若净差值 &lt; 0，则说明带外镜像族（其族中心位于观察带外）对带内 PIM 对消无正贡献或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引入干扰——这正是本消融要判定的事实。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来源：experiment/experiment_plan.approved.md 第 1 节；合同 task.v1 达标口径。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32 / 61</a:t>
            </a:r>
            <a:endParaRPr sz="1000"/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2.1 实际落地的改动（来自 coding/code_spec.approved.md）</a:t>
            </a:r>
            <a:endParaRPr sz="28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 · 表格（1）</a:t>
            </a:r>
            <a:endParaRPr sz="2800"/>
          </a:p>
        </p:txBody>
      </p:sp>
      <p:graphicFrame>
        <p:nvGraphicFramePr>
          <p:cNvPr id="4" name="Editable results table"/>
          <p:cNvGraphicFramePr/>
          <p:nvPr/>
        </p:nvGraphicFramePr>
        <p:xfrm>
          <a:off x="700000" y="1500000"/>
          <a:ext cx="10800000" cy="1560000"/>
        </p:xfrm>
        <a:graphic>
          <a:graphicData uri="http://schemas.openxmlformats.org/drawingml/2006/table">
            <a:tbl>
              <a:tblPr firstRow="1" bandRow="1"/>
              <a:tblGrid>
                <a:gridCol w="3600000"/>
                <a:gridCol w="3600000"/>
                <a:gridCol w="3600000"/>
              </a:tblGrid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文件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类型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说明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configs/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singleband_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g1_c17_ca_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pp_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3term.yaml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added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由 2 项对照配置派生，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仅改 output、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追加 pp_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shifts_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mhz: -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162.494 与 ca_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terms: {carriers: [[0,2],[1,-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1]]}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tests/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test_ca_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pp_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3term.py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added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4 个用例：与 2 项逐字差异、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shift 一致性、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模型激活与实数参数量 4704 与前向有限、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shift 篡改抛 ValueError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33 / 61</a:t>
            </a:r>
            <a:endParaRPr sz="1000"/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2.1 实际落地的改动（来自 coding/code_spec.approved.md）</a:t>
            </a:r>
            <a:endParaRPr sz="28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 · 表格（2）</a:t>
            </a:r>
            <a:endParaRPr sz="2800"/>
          </a:p>
        </p:txBody>
      </p:sp>
      <p:graphicFrame>
        <p:nvGraphicFramePr>
          <p:cNvPr id="4" name="Editable results table"/>
          <p:cNvGraphicFramePr/>
          <p:nvPr/>
        </p:nvGraphicFramePr>
        <p:xfrm>
          <a:off x="700000" y="1500000"/>
          <a:ext cx="10800000" cy="1040000"/>
        </p:xfrm>
        <a:graphic>
          <a:graphicData uri="http://schemas.openxmlformats.org/drawingml/2006/table">
            <a:tbl>
              <a:tblPr firstRow="1" bandRow="1"/>
              <a:tblGrid>
                <a:gridCol w="3600000"/>
                <a:gridCol w="3600000"/>
                <a:gridCol w="3600000"/>
              </a:tblGrid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文件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类型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说明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tests/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test_mars_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train_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protocol.py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modified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在 APPROVED_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CONFIGS 字典登记 ca_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pp_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3term 一行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34 / 61</a:t>
            </a:r>
            <a:endParaRPr sz="1000"/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2.1 实际落地的改动（来自 coding/code_spec.approved.md）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净改动 3 个文件，均已在代码层面复核：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未改动受保护路径 baseline/、评测器 main.py::evaluate_saved、训练入口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 tools/mars_train.py 与模型 libs/Model.py。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35 / 61</a:t>
            </a:r>
            <a:endParaRPr sz="1000"/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2.2 族中心与 shift 自洽性（在代码层复核） · 表格</a:t>
            </a:r>
            <a:endParaRPr sz="2800"/>
          </a:p>
        </p:txBody>
      </p:sp>
      <p:graphicFrame>
        <p:nvGraphicFramePr>
          <p:cNvPr id="4" name="Editable results table"/>
          <p:cNvGraphicFramePr/>
          <p:nvPr/>
        </p:nvGraphicFramePr>
        <p:xfrm>
          <a:off x="700000" y="1500000"/>
          <a:ext cx="10800000" cy="2080000"/>
        </p:xfrm>
        <a:graphic>
          <a:graphicData uri="http://schemas.openxmlformats.org/drawingml/2006/table">
            <a:tbl>
              <a:tblPr firstRow="1" bandRow="1"/>
              <a:tblGrid>
                <a:gridCol w="2160000"/>
                <a:gridCol w="2160000"/>
                <a:gridCol w="2160000"/>
                <a:gridCol w="2160000"/>
                <a:gridCol w="2160000"/>
              </a:tblGrid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ca_term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族中心 (MHz)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期望 shift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配置值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观察带关系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full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0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−107.7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−107.7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锚点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[[1,2],[0,-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1]] = 2c1−c0 = 80.191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80.191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−27.509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−27.509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落在观察带 −27.5±2.5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[[0,2],[1,-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1]] = 2c0−c1 = −54.794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−54.794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−162.494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−162.494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带外镜像族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36 / 61</a:t>
            </a:r>
            <a:endParaRPr sz="1000"/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2.2 族中心与 shift 自洽性（在代码层复核）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模型 libs/Model.py::_parse_ca_config 语义为：期望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 shift = ca_term_center_mhz(term) − f_rx，与配置 pp_shifts_mhz 偏差超 1e-3 即抛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 ValueError。据载波 [[-9.799,4.927],[35.196,4.916]]、f_rx = 107.7：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三项自洽，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tests/test_ca_pp_3term.py::test_three_term_shift_consistency_from_carriers 在真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实配置上复算通过。configs/singleband_g1_c17_ca_pp_keepL1C.yaml 仅作为第 3 项与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 shift 的参考（其 build_L1C:true），不作本轮主配置。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37 / 61</a:t>
            </a:r>
            <a:endParaRPr sz="1000"/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2.3 变量控制与对照臂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自变量（唯一）：ca_terms 项数 2 vs 3，差异仅在是否纳入带外镜像族与其 shift。控制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变量（逐字一致）：数据 singleband_g1_c17，16 通道 (16,30720)；seed=42；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budget_steps=3588；build_L1C=false；share_L30_across_terms=true；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pp_shift_mode=anchor；f_rx_mhz=107.7；前两项 pp_shifts_mhz=-107.7/-27.509；模型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 MD7L_FCLNFC_2lut_tf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（Ntx/Nrx/Nrank/Nbranch=16, Nspline=32, shareLUTs=1, batch_size=2048, circle_num=300, lr_init=1e-3）；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评测协议 eval_centers_mhz=-27.5, BW_PIM=5.0, eval_trim=256。因变量：主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 improvement_db；次 RES、maxRES、PER_THD、parameters_real_equivalent。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38 / 61</a:t>
            </a:r>
            <a:endParaRPr sz="1000"/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2.4 四臂执行矩阵与实际运行状态 · 表格（1）</a:t>
            </a:r>
            <a:endParaRPr sz="2800"/>
          </a:p>
        </p:txBody>
      </p:sp>
      <p:graphicFrame>
        <p:nvGraphicFramePr>
          <p:cNvPr id="4" name="Editable results table"/>
          <p:cNvGraphicFramePr/>
          <p:nvPr/>
        </p:nvGraphicFramePr>
        <p:xfrm>
          <a:off x="700000" y="1500000"/>
          <a:ext cx="10800000" cy="2080000"/>
        </p:xfrm>
        <a:graphic>
          <a:graphicData uri="http://schemas.openxmlformats.org/drawingml/2006/table">
            <a:tbl>
              <a:tblPr firstRow="1" bandRow="1"/>
              <a:tblGrid>
                <a:gridCol w="1800000"/>
                <a:gridCol w="1800000"/>
                <a:gridCol w="1800000"/>
                <a:gridCol w="1800000"/>
                <a:gridCol w="1800000"/>
                <a:gridCol w="1800000"/>
              </a:tblGrid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臂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名称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config_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path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seed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max_iters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实际状态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A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baseline_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rerun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configs/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singleband_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g1_c17_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baseline.yaml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42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3588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completed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B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ca_pp_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2term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configs/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singleband_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g1_c17_ca_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pp.yaml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42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3588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completed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C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ca_pp_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3term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configs/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singleband_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g1_c17_ca_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pp_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3term.yaml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42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3588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completed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39 / 61</a:t>
            </a:r>
            <a:endParaRPr sz="1000"/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2.4 四臂执行矩阵与实际运行状态 · 表格（2）</a:t>
            </a:r>
            <a:endParaRPr sz="2800"/>
          </a:p>
        </p:txBody>
      </p:sp>
      <p:graphicFrame>
        <p:nvGraphicFramePr>
          <p:cNvPr id="4" name="Editable results table"/>
          <p:cNvGraphicFramePr/>
          <p:nvPr/>
        </p:nvGraphicFramePr>
        <p:xfrm>
          <a:off x="700000" y="1500000"/>
          <a:ext cx="10800000" cy="1040000"/>
        </p:xfrm>
        <a:graphic>
          <a:graphicData uri="http://schemas.openxmlformats.org/drawingml/2006/table">
            <a:tbl>
              <a:tblPr firstRow="1" bandRow="1"/>
              <a:tblGrid>
                <a:gridCol w="1800000"/>
                <a:gridCol w="1800000"/>
                <a:gridCol w="1800000"/>
                <a:gridCol w="1800000"/>
                <a:gridCol w="1800000"/>
                <a:gridCol w="1800000"/>
              </a:tblGrid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臂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名称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config_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path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seed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max_iters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实际状态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D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ca_k1_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control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configs/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singleband_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g1_c17_ca_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k1.yaml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42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3588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completed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40 / 61</a:t>
            </a:r>
            <a:endParaRPr sz="1000"/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2.4 四臂执行矩阵与实际运行状态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execution/batch_summary.json 报告 total=4, failures=0, max_concurrency=1，各臂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 attempt=1。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41 / 61</a:t>
            </a:r>
            <a:endParaRPr sz="1000"/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2.5 基线与 K=1 对照的复用判定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按批准方案 baseline_ref.reuse_decision = rerun：由于上一轮已批准报告在本次运行上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下文中不可获取（不是本 run 的可用文件）、knowledge.baseline_match 返回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 match_score=0.0 / reuse_recommended=false，且读取元数据显示 libs/Model.py 等存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在版本漂移，无法证实「同快照复用」，故 A/B/D 与 C 在同一代码快照内重跑以保证 C−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B 与 C−基线比较的内部有效性。本轮未复用上一轮任何实测量；合同门限 6784 与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 17.175 来自任务合同与代码断言，非本轮测量。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42 / 61</a:t>
            </a:r>
            <a:endParaRPr sz="1000"/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2.6 训练预算说明（重要口径）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配置矩阵名义预算为 budget_steps=3588（= circle_samelayer × (circle_num −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 1) = 12 × 299）。但四臂实测 optimizer_steps = 3289（见 execution/metrics.json），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由训练循环的边界批次裁剪决定。四臂在 optimizer_steps 上逐字一致（均为 3289），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故 C−B 为同实际预算对照；报告以实测 3289为准，名义 3588 不等同于实测步数。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43 / 61</a:t>
            </a:r>
            <a:endParaRPr sz="1000"/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3.1 逐臂实测指标（来自 execution/metrics.json 与各臂</a:t>
            </a:r>
            <a:endParaRPr sz="28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 evaluation.json） · 表格</a:t>
            </a:r>
            <a:endParaRPr sz="2800"/>
          </a:p>
        </p:txBody>
      </p:sp>
      <p:graphicFrame>
        <p:nvGraphicFramePr>
          <p:cNvPr id="4" name="Editable results table"/>
          <p:cNvGraphicFramePr/>
          <p:nvPr/>
        </p:nvGraphicFramePr>
        <p:xfrm>
          <a:off x="700000" y="1500000"/>
          <a:ext cx="10800000" cy="2600000"/>
        </p:xfrm>
        <a:graphic>
          <a:graphicData uri="http://schemas.openxmlformats.org/drawingml/2006/table">
            <a:tbl>
              <a:tblPr firstRow="1" bandRow="1"/>
              <a:tblGrid>
                <a:gridCol w="1200000"/>
                <a:gridCol w="1200000"/>
                <a:gridCol w="1200000"/>
                <a:gridCol w="1200000"/>
                <a:gridCol w="1200000"/>
                <a:gridCol w="1200000"/>
                <a:gridCol w="1200000"/>
                <a:gridCol w="1200000"/>
                <a:gridCol w="1200000"/>
              </a:tblGrid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臂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improvement_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db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RES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maxRES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PER_THD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parameters_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real_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equivalent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active_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parameters_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real_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equivalent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optimizer_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steps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seconds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A baseline_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rerun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17.17516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5.24577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9.18777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18.69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6784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4704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3289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392.60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B ca_pp_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2term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17.18968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5.23125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9.01284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18.71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4704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4704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3289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530.77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C ca_pp_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3term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17.20984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5.21109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9.36964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18.74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4704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4704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3289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456.59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D ca_k1_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control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17.17516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5.24577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9.18777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18.69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4704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4704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3289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349.58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44 / 61</a:t>
            </a:r>
            <a:endParaRPr sz="1000"/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3.1 逐臂实测指标（来自 execution/metrics.json 与各臂</a:t>
            </a:r>
            <a:endParaRPr sz="28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 evaluation.json）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指标方向与口径：improvement_db 越大越好；RES、maxRES 越小越好；PER_THD 为阈值口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径统计量（越高越好，具体定义见评测器 main.py::evaluate_saved）；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parameters_real_equivalent 为实数等效参数量（复数参数计 2）。PIM = 22.420933 四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臂一致，rx_rank = 12 四臂一致，covered_points = 24564 / declared_points = 24576 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四臂一致。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45 / 61</a:t>
            </a:r>
            <a:endParaRPr sz="1000"/>
          </a:p>
        </p:txBody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3.2 主比较：C（3 项）− B（2 项）净差值 · 表格</a:t>
            </a:r>
            <a:endParaRPr sz="2800"/>
          </a:p>
        </p:txBody>
      </p:sp>
      <p:graphicFrame>
        <p:nvGraphicFramePr>
          <p:cNvPr id="4" name="Editable results table"/>
          <p:cNvGraphicFramePr/>
          <p:nvPr/>
        </p:nvGraphicFramePr>
        <p:xfrm>
          <a:off x="700000" y="1500000"/>
          <a:ext cx="10800000" cy="3120000"/>
        </p:xfrm>
        <a:graphic>
          <a:graphicData uri="http://schemas.openxmlformats.org/drawingml/2006/table">
            <a:tbl>
              <a:tblPr firstRow="1" bandRow="1"/>
              <a:tblGrid>
                <a:gridCol w="2160000"/>
                <a:gridCol w="2160000"/>
                <a:gridCol w="2160000"/>
                <a:gridCol w="2160000"/>
                <a:gridCol w="2160000"/>
              </a:tblGrid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指标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B (2term)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C (3term)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净差值 (C−B)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方向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improvement_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db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17.18968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17.20984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+0.02016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C 略优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RES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5.23125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5.21109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−0.02016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C 略优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maxRES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9.01284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9.36964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+0.35681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C 劣于 B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PER_THD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18.71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18.74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+0.03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C 略优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parameters_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real_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equivalent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4704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4704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0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不变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46 / 61</a:t>
            </a:r>
            <a:endParaRPr sz="1000"/>
          </a:p>
        </p:txBody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3.3 判读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H1 成立：C 参数量 4704，与 B 相同；share_L30_across_terms:true 使 L30 维度 = R 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与 Npp 无关，故 2/3 项参数量在结构上相等。4704/6784 = 69.3% ≤ 80%（5427.2）。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H2 在均值判据上成立：C−B 净差 +0.02016 dB ≥ 0，且 C = 17.20984 ≥ 门限 17.175。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但方向不一致：C 的 maxRES = 9.36964 是同组四臂中最大者，比 B 高 +0.35681 dB；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而 D（K=1 对照）与 A（基线）在 improvement_db/RES/maxRES/PER_THD 上逐字一致（均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 17.17516 / 5.24577 / 9.18777 / 18.69），说明 K=1 退化臂前向确与基线一致，D 的角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色校验通过。幅度评价：本轮净差值 +0.02 dB 与其他臂间/臂内散布（如 A 与 C 的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 maxRES 相差 0.18~0.36 dB）同量级，不足以在上述指标上支撑「带外镜像族带来实质性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改善」的强结论；也无法排除单 seed 的运行变差。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47 / 61</a:t>
            </a:r>
            <a:endParaRPr sz="1000"/>
          </a:p>
        </p:txBody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4. 达标判定（沿用上一轮口径） · 表格</a:t>
            </a:r>
            <a:endParaRPr sz="2800"/>
          </a:p>
        </p:txBody>
      </p:sp>
      <p:graphicFrame>
        <p:nvGraphicFramePr>
          <p:cNvPr id="4" name="Editable results table"/>
          <p:cNvGraphicFramePr/>
          <p:nvPr/>
        </p:nvGraphicFramePr>
        <p:xfrm>
          <a:off x="700000" y="1500000"/>
          <a:ext cx="10800000" cy="2080000"/>
        </p:xfrm>
        <a:graphic>
          <a:graphicData uri="http://schemas.openxmlformats.org/drawingml/2006/table">
            <a:tbl>
              <a:tblPr firstRow="1" bandRow="1"/>
              <a:tblGrid>
                <a:gridCol w="2700000"/>
                <a:gridCol w="2700000"/>
                <a:gridCol w="2700000"/>
                <a:gridCol w="2700000"/>
              </a:tblGrid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条件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门限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C 实测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判定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参数量实数等效量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≤ 5427.2（= 6784 × 80%）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4704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满足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improvement_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db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≥ 17.175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17.20984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满足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3term 相对 2term 净差值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报告项（无门限）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+0.02016 dB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已报告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48 / 61</a:t>
            </a:r>
            <a:endParaRPr sz="1000"/>
          </a:p>
        </p:txBody>
      </p: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4. 达标判定（沿用上一轮口径）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诊断 diagnosis/diagnosis.v1.md 记录 passed: true、confidence: 1.0、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recommended_action: Proceed to Writing with the successful run evidence。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49 / 61</a:t>
            </a:r>
            <a:endParaRPr sz="1000"/>
          </a:p>
        </p:txBody>
      </p: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5. 证据链与复现 · 表格（1）</a:t>
            </a:r>
            <a:endParaRPr sz="2800"/>
          </a:p>
        </p:txBody>
      </p:sp>
      <p:graphicFrame>
        <p:nvGraphicFramePr>
          <p:cNvPr id="4" name="Editable results table"/>
          <p:cNvGraphicFramePr/>
          <p:nvPr/>
        </p:nvGraphicFramePr>
        <p:xfrm>
          <a:off x="700000" y="1500000"/>
          <a:ext cx="10800000" cy="2080000"/>
        </p:xfrm>
        <a:graphic>
          <a:graphicData uri="http://schemas.openxmlformats.org/drawingml/2006/table">
            <a:tbl>
              <a:tblPr firstRow="1" bandRow="1"/>
              <a:tblGrid>
                <a:gridCol w="3600000"/>
                <a:gridCol w="3600000"/>
                <a:gridCol w="3600000"/>
              </a:tblGrid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环节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产物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引用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方案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experiment_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plan.v1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experiment/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experiment_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plan.approved.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md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代码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code_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spec.v1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coding/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code_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spec.approved.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md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执行清单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run_log.v1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execution/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run_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log.approved.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md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50 / 61</a:t>
            </a:r>
            <a:endParaRPr sz="1000"/>
          </a:p>
        </p:txBody>
      </p: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5. 证据链与复现 · 表格（2）</a:t>
            </a:r>
            <a:endParaRPr sz="2800"/>
          </a:p>
        </p:txBody>
      </p:sp>
      <p:graphicFrame>
        <p:nvGraphicFramePr>
          <p:cNvPr id="4" name="Editable results table"/>
          <p:cNvGraphicFramePr/>
          <p:nvPr/>
        </p:nvGraphicFramePr>
        <p:xfrm>
          <a:off x="700000" y="1500000"/>
          <a:ext cx="10800000" cy="1040000"/>
        </p:xfrm>
        <a:graphic>
          <a:graphicData uri="http://schemas.openxmlformats.org/drawingml/2006/table">
            <a:tbl>
              <a:tblPr firstRow="1" bandRow="1"/>
              <a:tblGrid>
                <a:gridCol w="3600000"/>
                <a:gridCol w="3600000"/>
                <a:gridCol w="3600000"/>
              </a:tblGrid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环节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产物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引用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A 收据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evaluation.json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execution/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local_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commands/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A_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baseline_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rerun/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e3fedb7c1dbd4cff91a088e035226974/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evaluation.json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51 / 61</a:t>
            </a:r>
            <a:endParaRPr sz="1000"/>
          </a:p>
        </p:txBody>
      </p: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5. 证据链与复现 · 表格（3）</a:t>
            </a:r>
            <a:endParaRPr sz="2800"/>
          </a:p>
        </p:txBody>
      </p:sp>
      <p:graphicFrame>
        <p:nvGraphicFramePr>
          <p:cNvPr id="4" name="Editable results table"/>
          <p:cNvGraphicFramePr/>
          <p:nvPr/>
        </p:nvGraphicFramePr>
        <p:xfrm>
          <a:off x="700000" y="1500000"/>
          <a:ext cx="10800000" cy="1560000"/>
        </p:xfrm>
        <a:graphic>
          <a:graphicData uri="http://schemas.openxmlformats.org/drawingml/2006/table">
            <a:tbl>
              <a:tblPr firstRow="1" bandRow="1"/>
              <a:tblGrid>
                <a:gridCol w="3600000"/>
                <a:gridCol w="3600000"/>
                <a:gridCol w="3600000"/>
              </a:tblGrid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环节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产物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引用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B 收据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evaluation.json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execution/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local_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commands/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B_ca_pp_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2term/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1a9da08782ae44d3a1d3c8c8217945a9/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evaluation.json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C 收据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evaluation.json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execution/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local_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commands/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C_ca_pp_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3term/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a3fac473a8c647ebafa0b190b826e75a/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evaluation.json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52 / 61</a:t>
            </a:r>
            <a:endParaRPr sz="1000"/>
          </a:p>
        </p:txBody>
      </p: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5. 证据链与复现 · 表格（4）</a:t>
            </a:r>
            <a:endParaRPr sz="2800"/>
          </a:p>
        </p:txBody>
      </p:sp>
      <p:graphicFrame>
        <p:nvGraphicFramePr>
          <p:cNvPr id="4" name="Editable results table"/>
          <p:cNvGraphicFramePr/>
          <p:nvPr/>
        </p:nvGraphicFramePr>
        <p:xfrm>
          <a:off x="700000" y="1500000"/>
          <a:ext cx="10800000" cy="2080000"/>
        </p:xfrm>
        <a:graphic>
          <a:graphicData uri="http://schemas.openxmlformats.org/drawingml/2006/table">
            <a:tbl>
              <a:tblPr firstRow="1" bandRow="1"/>
              <a:tblGrid>
                <a:gridCol w="3600000"/>
                <a:gridCol w="3600000"/>
                <a:gridCol w="3600000"/>
              </a:tblGrid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环节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产物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引用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D 收据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evaluation.json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execution/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local_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commands/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D_ca_k1_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control/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9ab8f6b3522a42f895bdcf1ee362d009/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evaluation.json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聚合指标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metrics.json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execution/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metrics.json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批次汇总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batch_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summary.json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execution/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batch_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summary.json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53 / 61</a:t>
            </a:r>
            <a:endParaRPr sz="1000"/>
          </a:p>
        </p:txBody>
      </p:sp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5. 证据链与复现 · 表格（5）</a:t>
            </a:r>
            <a:endParaRPr sz="2800"/>
          </a:p>
        </p:txBody>
      </p:sp>
      <p:graphicFrame>
        <p:nvGraphicFramePr>
          <p:cNvPr id="4" name="Editable results table"/>
          <p:cNvGraphicFramePr/>
          <p:nvPr/>
        </p:nvGraphicFramePr>
        <p:xfrm>
          <a:off x="700000" y="1500000"/>
          <a:ext cx="10800000" cy="1040000"/>
        </p:xfrm>
        <a:graphic>
          <a:graphicData uri="http://schemas.openxmlformats.org/drawingml/2006/table">
            <a:tbl>
              <a:tblPr firstRow="1" bandRow="1"/>
              <a:tblGrid>
                <a:gridCol w="3600000"/>
                <a:gridCol w="3600000"/>
                <a:gridCol w="3600000"/>
              </a:tblGrid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环节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产物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引用</a:t>
                      </a:r>
                      <a:endParaRPr sz="1200"/>
                    </a:p>
                  </a:txBody>
                  <a:tcPr>
                    <a:solidFill>
                      <a:srgbClr val="18243A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收敛曲线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loss_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curves_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16.png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execution/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loss_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curves_</a:t>
                      </a:r>
                      <a:endParaRPr sz="120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2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16.png</a:t>
                      </a:r>
                      <a:endParaRPr sz="1200"/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54 / 61</a:t>
            </a:r>
            <a:endParaRPr sz="1000"/>
          </a:p>
        </p:txBody>
      </p:sp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5. 证据链与复现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代码仓与分支：项目代码仓 D:\a_documents\AGT\CDX\MARS_workspace\项目材料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\baseline7L（只读），实验分支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 mars/2026-10-13T0140_pimc_ca_pp_3term_g1c17-f33b9e4125c8，基线分支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 mars/2026-10-11T1824_pimc_ca_sparsity_g1c17-f35e74ad6cc4，基线提交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 b1fa4fd5d8d22d92ce015c295d8a1ebe40b1c03b。每臂输出目录（配置默认值与宿主实际作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业目录以 execution/job_files 为准）：A .../A_baseline_rerun/...、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B .../B_ca_pp_2term/...、C .../C_ca_pp_3term/...、D .../D_ca_k1_control/...，各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55 / 61</a:t>
            </a:r>
            <a:endParaRPr sz="1000"/>
          </a:p>
        </p:txBody>
      </p:sp>
    </p:spTree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5. 证据链与复现（续）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自含 evaluation.json、training.csv、validation_signals.npz、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channel_performance.csv、config.json、runtime_evidence.json、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execution_receipt.json。复现说明：A/C 的 training.csv 哈希不同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（b0bce34... vs 06660f1c...）、validation_signals.npz 哈希不同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（ffbafe48... vs c747ef2e...），说明两臂虽配置除族基项外逐字一致，训练轨迹与验证信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号并非逐字节可复现——这与「不同 Npp 改变输入通道数」的机制一致（Npp=2 vs 3 使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 TX 输入列数不同），因此参数量相同不代表计算图相同。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56 / 61</a:t>
            </a:r>
            <a:endParaRPr sz="1000"/>
          </a:p>
        </p:txBody>
      </p:sp>
    </p:spTree>
  </p:cSld>
  <p:clrMapOvr>
    <a:masterClrMapping/>
  </p:clrMapOvr>
</p:sld>
</file>

<file path=ppt/slides/slide5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6.1 已验证结果（可确证）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四臂均完成，无失败（execution/batch_summary.json，failures=0）。C 在同快照、同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 seed、同实际预算口径下满足合同达标口径（参数量 4704 ≤ 5427.2；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improvement_db 17.20984 ≥ 17.175）。C−B 净差值 +0.02016 dB，且 D（K=1）与 A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（基线）四项指标逐字一致，佐证执行入口与基线一致性。族中心/shift 三项自洽，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tests/test_ca_pp_3term.py 在真实配置上通过（coding/code_spec.approved.md 报告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 65 passed）。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57 / 61</a:t>
            </a:r>
            <a:endParaRPr sz="1000"/>
          </a:p>
        </p:txBody>
      </p:sp>
    </p:spTree>
  </p:cSld>
  <p:clrMapOvr>
    <a:masterClrMapping/>
  </p:clrMapOvr>
</p:sld>
</file>

<file path=ppt/slides/slide5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6.2 待验证假设（不可据此断言必然改善或代码缺陷）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带外镜像族的正贡献幅度与显著性：单 seed、单 case 下 +0.02 dB 与指标散布同量级，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且 maxRES 反向（C 更高）表明可能在个别通道/峰值上引入干扰。建议多 seed（≥3）重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复 C 与 B，报告净差值的分布与置信区间。带外镜像族与观察带内 PIM 的相位/幅度耦合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机制，以及 share_L30_across_terms 共享映射是否限制了族基项的表达上限，均尚未通过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消融逐一隔离。未取得 loss_curves_16.png 的曲线标签与数值内容，故不宣称「单调收敛」；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收敛性判断应引用 training.csv 逐 step 记录。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58 / 61</a:t>
            </a:r>
            <a:endParaRPr sz="1000"/>
          </a:p>
        </p:txBody>
      </p:sp>
    </p:spTree>
  </p:cSld>
  <p:clrMapOvr>
    <a:masterClrMapping/>
  </p:clrMapOvr>
</p:sld>
</file>

<file path=ppt/slides/slide5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6.3 下一步所需验证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多 seed（42/其他）重复 A/B/C/D，以区分真实效应与运行变差。增加「仅带外镜像族、去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掉 IM3 带内族」的对照，判定镜像族信息的独立贡献。在 channel_performance.csv 层面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核查 C 的 maxRES 抬升来自哪些通道/方向，确认是否需要重加权。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59 / 61</a:t>
            </a:r>
            <a:endParaRPr sz="1000"/>
          </a:p>
        </p:txBody>
      </p:sp>
    </p:spTree>
  </p:cSld>
  <p:clrMapOvr>
    <a:masterClrMapping/>
  </p:clrMapOvr>
</p:sld>
</file>

<file path=ppt/slides/slide6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7. 结论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在本轮同代码快照、单 seed（42）、单数据集（singleband_g1_c17）、单 case（case17）、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实测 3289 步预算的统一口径下：把带外镜像族 [[0,2],[1,-1]] 纳入载波分辨 PP 族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基（2 项 → 3 项）后，参数量实数等效量保持 4704 不变，improvement_db 相对 2 项对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照净增 +0.02016 dB，达到合同门限 17.175（实测 17.20984），满足达标口径。 与此同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时，maxRES 出现 +0.357 dB 的反向变化，说明该结论仅适用于平均改善判据，峰残差维度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未获益。该结果登记为支持假设 H1/H2 的单次测量，不构成「带外镜像族普适有效」的推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广性结论。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本报告的所有数值均来自上文 chain_refs 所列真实作业收据与聚合指标，未引用上一轮任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何未证实实测量。数据与 Memory 材料仅作背景参考，不作为实验证据。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60 / 61</a:t>
            </a:r>
            <a:endParaRPr sz="1000"/>
          </a:p>
        </p:txBody>
      </p:sp>
    </p:spTree>
  </p:cSld>
  <p:clrMapOvr>
    <a:masterClrMapping/>
  </p:clrMapOvr>
</p:sld>
</file>

<file path=ppt/slides/slide6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来源与阅读说明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已审核报告：writing/research_report.approved.md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SHA-256：fc66e891388a12340689123baaa6ac0b…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图表由真实作业回执绘制；局限、假设与事实保持原报告表述，导出不进行新的科学判定。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完整正文见配套 Word / HTML。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61 / 61</a:t>
            </a:r>
            <a:endParaRPr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S Research">
  <a:themeElements>
    <a:clrScheme name="Research">
      <a:dk1>
        <a:srgbClr val="18243A"/>
      </a:dk1>
      <a:lt1>
        <a:srgbClr val="FFFFFF"/>
      </a:lt1>
      <a:dk2>
        <a:srgbClr val="334155"/>
      </a:dk2>
      <a:lt2>
        <a:srgbClr val="EEF2F6"/>
      </a:lt2>
      <a:accent1>
        <a:srgbClr val="475FA8"/>
      </a:accent1>
      <a:accent2>
        <a:srgbClr val="279685"/>
      </a:accent2>
      <a:accent3>
        <a:srgbClr val="BE7A34"/>
      </a:accent3>
      <a:accent4>
        <a:srgbClr val="8465A6"/>
      </a:accent4>
      <a:accent5>
        <a:srgbClr val="478DA6"/>
      </a:accent5>
      <a:accent6>
        <a:srgbClr val="B85B65"/>
      </a:accent6>
      <a:hlink>
        <a:srgbClr val="475FA8"/>
      </a:hlink>
      <a:folHlink>
        <a:srgbClr val="8465A6"/>
      </a:folHlink>
    </a:clrScheme>
    <a:fontScheme name="Arial">
      <a:majorFont>
        <a:latin typeface="Arial"/>
        <a:ea typeface="Microsoft YaHei"/>
        <a:cs typeface="Arial"/>
      </a:majorFont>
      <a:minorFont>
        <a:latin typeface="Arial"/>
        <a:ea typeface="Microsoft YaHei"/>
        <a:cs typeface="Arial"/>
      </a:minorFont>
    </a:fontScheme>
    <a:fmtScheme name="Research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