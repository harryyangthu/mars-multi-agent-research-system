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"/>
  </p:sldMasterIdLst>
  <p:sldIdLst>
    <p:sldId id="257" r:id="s1"/>
    <p:sldId id="258" r:id="s2"/>
    <p:sldId id="259" r:id="s3"/>
    <p:sldId id="260" r:id="s4"/>
    <p:sldId id="261" r:id="s5"/>
    <p:sldId id="262" r:id="s6"/>
    <p:sldId id="263" r:id="s7"/>
    <p:sldId id="264" r:id="s8"/>
    <p:sldId id="265" r:id="s9"/>
    <p:sldId id="266" r:id="s10"/>
    <p:sldId id="267" r:id="s11"/>
    <p:sldId id="268" r:id="s12"/>
    <p:sldId id="269" r:id="s13"/>
    <p:sldId id="270" r:id="s14"/>
    <p:sldId id="271" r:id="s15"/>
    <p:sldId id="272" r:id="s16"/>
    <p:sldId id="273" r:id="s17"/>
    <p:sldId id="274" r:id="s18"/>
    <p:sldId id="275" r:id="s19"/>
    <p:sldId id="276" r:id="s20"/>
    <p:sldId id="277" r:id="s21"/>
    <p:sldId id="278" r:id="s22"/>
    <p:sldId id="279" r:id="s23"/>
    <p:sldId id="280" r:id="s24"/>
    <p:sldId id="281" r:id="s25"/>
    <p:sldId id="282" r:id="s26"/>
    <p:sldId id="283" r:id="s27"/>
  </p:sldIdLst>
  <p:sldSz cx="12192000" cy="6858000"/>
  <p:notesSz cx="6858000" cy="9144000"/>
</p:presentation>
</file>

<file path=ppt/_rels/presentation.xml.rels><Relationships xmlns="http://schemas.openxmlformats.org/package/2006/relationships"><Relationship Id="master" Type="http://schemas.openxmlformats.org/officeDocument/2006/relationships/slideMaster" Target="slideMasters/slideMaster1.xml"/><Relationship Id="s1" Type="http://schemas.openxmlformats.org/officeDocument/2006/relationships/slide" Target="slides/slide1.xml"/><Relationship Id="s2" Type="http://schemas.openxmlformats.org/officeDocument/2006/relationships/slide" Target="slides/slide2.xml"/><Relationship Id="s3" Type="http://schemas.openxmlformats.org/officeDocument/2006/relationships/slide" Target="slides/slide3.xml"/><Relationship Id="s4" Type="http://schemas.openxmlformats.org/officeDocument/2006/relationships/slide" Target="slides/slide4.xml"/><Relationship Id="s5" Type="http://schemas.openxmlformats.org/officeDocument/2006/relationships/slide" Target="slides/slide5.xml"/><Relationship Id="s6" Type="http://schemas.openxmlformats.org/officeDocument/2006/relationships/slide" Target="slides/slide6.xml"/><Relationship Id="s7" Type="http://schemas.openxmlformats.org/officeDocument/2006/relationships/slide" Target="slides/slide7.xml"/><Relationship Id="s8" Type="http://schemas.openxmlformats.org/officeDocument/2006/relationships/slide" Target="slides/slide8.xml"/><Relationship Id="s9" Type="http://schemas.openxmlformats.org/officeDocument/2006/relationships/slide" Target="slides/slide9.xml"/><Relationship Id="s10" Type="http://schemas.openxmlformats.org/officeDocument/2006/relationships/slide" Target="slides/slide10.xml"/><Relationship Id="s11" Type="http://schemas.openxmlformats.org/officeDocument/2006/relationships/slide" Target="slides/slide11.xml"/><Relationship Id="s12" Type="http://schemas.openxmlformats.org/officeDocument/2006/relationships/slide" Target="slides/slide12.xml"/><Relationship Id="s13" Type="http://schemas.openxmlformats.org/officeDocument/2006/relationships/slide" Target="slides/slide13.xml"/><Relationship Id="s14" Type="http://schemas.openxmlformats.org/officeDocument/2006/relationships/slide" Target="slides/slide14.xml"/><Relationship Id="s15" Type="http://schemas.openxmlformats.org/officeDocument/2006/relationships/slide" Target="slides/slide15.xml"/><Relationship Id="s16" Type="http://schemas.openxmlformats.org/officeDocument/2006/relationships/slide" Target="slides/slide16.xml"/><Relationship Id="s17" Type="http://schemas.openxmlformats.org/officeDocument/2006/relationships/slide" Target="slides/slide17.xml"/><Relationship Id="s18" Type="http://schemas.openxmlformats.org/officeDocument/2006/relationships/slide" Target="slides/slide18.xml"/><Relationship Id="s19" Type="http://schemas.openxmlformats.org/officeDocument/2006/relationships/slide" Target="slides/slide19.xml"/><Relationship Id="s20" Type="http://schemas.openxmlformats.org/officeDocument/2006/relationships/slide" Target="slides/slide20.xml"/><Relationship Id="s21" Type="http://schemas.openxmlformats.org/officeDocument/2006/relationships/slide" Target="slides/slide21.xml"/><Relationship Id="s22" Type="http://schemas.openxmlformats.org/officeDocument/2006/relationships/slide" Target="slides/slide22.xml"/><Relationship Id="s23" Type="http://schemas.openxmlformats.org/officeDocument/2006/relationships/slide" Target="slides/slide23.xml"/><Relationship Id="s24" Type="http://schemas.openxmlformats.org/officeDocument/2006/relationships/slide" Target="slides/slide24.xml"/><Relationship Id="s25" Type="http://schemas.openxmlformats.org/officeDocument/2006/relationships/slide" Target="slides/slide25.xml"/><Relationship Id="s26" Type="http://schemas.openxmlformats.org/officeDocument/2006/relationships/slide" Target="slides/slide26.xml"/><Relationship Id="s27" Type="http://schemas.openxmlformats.org/officeDocument/2006/relationships/slide" Target="slides/slide27.xml"/></Relationships>
</file>

<file path=ppt/slideLayouts/_rels/slideLayout1.xml.rels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layout" Type="http://schemas.openxmlformats.org/officeDocument/2006/relationships/slideLayout" Target="../slideLayouts/slideLayout1.xml"/><Relationship Id="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4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5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6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7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8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9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10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11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12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13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14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15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16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17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18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19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0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1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2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3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4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5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6.xml.rels><Relationships xmlns="http://schemas.openxmlformats.org/package/2006/relationships"><Relationship Id="layout" Type="http://schemas.openxmlformats.org/officeDocument/2006/relationships/slideLayout" Target="../slideLayouts/slideLayout1.xml"/><Relationship Id="image" Type="http://schemas.openxmlformats.org/officeDocument/2006/relationships/image" Target="../media/image26.png"/></Relationships>
</file>

<file path=ppt/slides/_rels/slide27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研究报告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pimc_ca_pp_3term_g1c17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2026-10-13T0140_pimc_ca_pp_3term_g1c17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已审核报告 · 原始指标与记录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完整正文及证据路径见配套 Word / Excel。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 / 27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真实实验指标</a:t>
            </a:r>
            <a:endParaRPr sz="2800"/>
          </a:p>
        </p:txBody>
      </p:sp>
      <p:graphicFrame>
        <p:nvGraphicFramePr>
          <p:cNvPr id="4" name="Editable results table"/>
          <p:cNvGraphicFramePr/>
          <p:nvPr/>
        </p:nvGraphicFramePr>
        <p:xfrm>
          <a:off x="700000" y="1500000"/>
          <a:ext cx="10800000" cy="3800000"/>
        </p:xfrm>
        <a:graphic>
          <a:graphicData uri="http://schemas.openxmlformats.org/drawingml/2006/table">
            <a:tbl>
              <a:tblPr firstRow="1" bandRow="1"/>
              <a:tblGrid>
                <a:gridCol w="5400000"/>
                <a:gridCol w="5400000"/>
              </a:tblGrid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实验</a:t>
                      </a:r>
                      <a:endParaRPr sz="1400"/>
                    </a:p>
                  </a:txBody>
                  <a:tcPr>
                    <a:solidFill>
                      <a:srgbClr val="18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RES</a:t>
                      </a:r>
                      <a:endParaRPr sz="1400"/>
                    </a:p>
                  </a:txBody>
                  <a:tcPr>
                    <a:solidFill>
                      <a:srgbClr val="18243A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A_baseline_rerun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5.25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B_ca_pp_2term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5.23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C_ca_pp_3term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5.21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D_ca_k1_control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18243A"/>
                          </a:solidFill>
                          <a:latin typeface="Arial"/>
                          <a:ea typeface="Microsoft YaHei"/>
                        </a:rPr>
                        <a:t>5.25</a:t>
                      </a:r>
                      <a:endParaRPr sz="1400"/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 / 27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0. 摘要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本报告检验唯一目标：在载波分辨 PP 族基中加入带外镜像族 [[0,2],[1,-1]]（2c0−c1）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及其频移 −162.494 MHz 后，单频 group1 case17 的对消改善是否发生净变化。自变量仅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为 ca_terms 项数（2 项 → 3 项），其余条件（数据、seed、预算、模型、build_L1C:fa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lse、share_L30_across_terms:true 等）逐字保持一致。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结论：本轮四臂（A 基线重跑 / B ca_pp_2term / C ca_pp_3term / D ca_k1_control）全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部 status=completed，failures=0（execution/batch_summary.json）。处理臂 C improv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ement_db = 17.20984，相对对照臂 B 的 17.18968 净差值 +0.02016 dB（≥0），相对本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3 / 27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0. 摘要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轮同快照基线 A 的 17.17516 高出 +0.03468 dB；参数量实数等效量 4704（= 基线 6784 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的 69.3% ≤ 80% 门限 5427.2）。因此在本轮同快照口径下 C 同时满足「参数量 ≤ 5427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.2」与「improvement_db ≥ 合同门限 17.175」两项达标条件。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必须同时声明的限制：本结论基于单 seed（42）单数据集（singleband_g1_c17）单 case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（case17）单次运行，净差值幅度（+0.02 dB 量级）与最大残差指标（C 的 maxRES 反而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高于 B 约 +0.357 dB）之间存在方向不一致，不能外推为「带外镜像族普适有效」的结论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，只能登记为「在本次设置下未观察到劣化且均值判据略优」的待验证假设。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4 / 27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1.1 物理与建模背景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项目研究多通道基站无源互调（PIM）对消：由已知 TX 基带 IQ 预测落入 RX 带的 PIM 并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减去（见项目 README.md）。本地单频参考场景的 TX 实为双载波（载波带宽 5/10 MHz，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位于下行带内），因此即使在「单频段」语义下也存在载波间互调 2c1−c0、2c0−c1 等族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基项。PP（物理先验）用于显式注入互调项的射频中心与相对 RX 的频移，把幅度非线性交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给 LUT，把频率位置交给固定相位搬移（README.md 第 6 节）。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5 / 27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1.2 本轮唯一可证伪假设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在其余条件与上一轮完全一致时，把载波分辨 PP 族基由 2 项（0 阶全带锚点 full + 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察带内 IM3 族 [[1,2],[0,-1]]）扩展为 3 项（追加带外镜像族 [[0,2],[1,-1]]）后：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H1（参数量）：parameters_real_equivalent 保持 4704 不变（相对基线 6784 的 69.3% 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≤ 80%）。H2（性能）：improvement_db 相对 2 项对照的净差值 ≥ 0（不劣化），且不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劣于合同固定门限 17.175。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若净差值 &lt; 0，则说明带外镜像族（其族中心位于观察带外）对带内 PIM 对消无正贡献或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引入干扰——这正是本消融要判定的事实。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来源：experiment/experiment_plan.approved.md 第 1 节；合同 task.v1 达标口径。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6 / 27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2.1 实际落地的改动（来自 coding/code_spec.approved.md）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净改动 3 个文件，均已在代码层面复核：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文件 | 类型 | 说明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configs/singleband_g1_c17_ca_pp_3term.yaml | added | 由 2 项对照配置派生，仅改 o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utput、追加 pp_shifts_mhz: -162.494 与 ca_terms: {carriers: [[0,2],[1,-1]]}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tests/test_ca_pp_3term.py | added | 4 个用例：与 2 项逐字差异、shift 一致性、模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型激活与实数参数量 4704 与前向有限、shift 篡改抛 ValueError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tests/test_mars_train_protocol.py | modified | 在 APPROVED_CONFIGS 字典登记 ca_p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p_3term 一行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未改动受保护路径 baseline/、评测器 main.py::evaluate_saved、训练入口 tools/mars_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train.py 与模型 libs/Model.py。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7 / 27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2.2 族中心与 shift 自洽性（在代码层复核）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模型 libs/Model.py::_parse_ca_config 语义为：期望 shift = ca_term_center_mhz(ter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m) − f_rx，与配置 pp_shifts_mhz 偏差超 1e-3 即抛 ValueError。据载波 [[-9.799,4.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927],[35.196,4.916]]、f_rx = 107.7：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ca_term | 族中心 (MHz) | 期望 shift | 配置值 | 观察带关系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full | 0 | −107.7 | −107.7 | 锚点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[[1,2],[0,-1]] = 2c1−c0 = 80.191 | 80.191 | −27.509 | −27.509 | 落在观察带 −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8 / 27</a:t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2.2 族中心与 shift 自洽性（在代码层复核）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27.5±2.5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[[0,2],[1,-1]] = 2c0−c1 = −54.794 | −54.794 | −162.494 | −162.494 | 带外镜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像族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三项自洽，tests/test_ca_pp_3term.py::test_three_term_shift_consistency_from_carr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iers 在真实配置上复算通过。configs/singleband_g1_c17_ca_pp_keepL1C.yaml 仅作为第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3 项与 shift 的参考（其 build_L1C:true），不作本轮主配置。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9 / 27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2.3 变量控制与对照臂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自变量（唯一）：ca_terms 项数 2 vs 3，差异仅在是否纳入带外镜像族与其 shift。控制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变量（逐字一致）：数据 singleband_g1_c17，16 通道 (16,30720)；seed=42；budget_st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eps=3588；build_L1C=false；share_L30_across_terms=true；pp_shift_mode=anchor；f_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rx_mhz=107.7；前两项 pp_shifts_mhz=-107.7/-27.509；模型 MD7L_FCLNFC_2lut_tf（Ntx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/Nrx/Nrank/Nbranch=16, Nspline=32, shareLUTs=1, batch_size=2048, circle_num=300,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lr_init=1e-3）；评测协议 eval_centers_mhz=-27.5, BW_PIM=5.0, eval_trim=256。因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变量：主 improvement_db；次 RES、maxRES、PER_THD、parameters_real_equivalent。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10 / 27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2.4 四臂执行矩阵与实际运行状态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臂 | 名称 | config_path | seed | max_iters | 实际状态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A | baseline_rerun | configs/singleband_g1_c17_baseline.yaml | 42 | 3588 | compl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eted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B | ca_pp_2term | configs/singleband_g1_c17_ca_pp.yaml | 42 | 3588 | completed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C | ca_pp_3term | configs/singleband_g1_c17_ca_pp_3term.yaml | 42 | 3588 | compl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eted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D | ca_k1_control | configs/singleband_g1_c17_ca_k1.yaml | 42 | 3588 | completed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execution/batch_summary.json 报告 total=4, failures=0, max_concurrency=1，各臂 a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ttempt=1。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11 / 27</a:t>
            </a: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2.5 基线与 K=1 对照的复用判定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按批准方案 baseline_ref.reuse_decision = rerun：由于上一轮已批准报告在本次运行上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下文中不可获取（不是本 run 的可用文件）、knowledge.baseline_match 返回 match_sco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re=0.0 / reuse_recommended=false，且读取元数据显示 libs/Model.py 等存在版本漂移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，无法证实「同快照复用」，故 A/B/D 与 C 在同一代码快照内重跑以保证 C−B 与 C−基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线比较的内部有效性。本轮未复用上一轮任何实测量；合同门限 6784 与 17.175 来自任务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合同与代码断言，非本轮测量。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12 / 27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2.6 训练预算说明（重要口径）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配置矩阵名义预算为 budget_steps=3588（= circle_samelayer × (circle_num − 1) = 1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2 × 299）。但四臂实测 optimizer_steps = 3289（见 execution/metrics.json），由训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练循环的边界批次裁剪决定。四臂在 optimizer_steps 上逐字一致（均为 3289），故 C−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B 为同实际预算对照；报告以实测 3289为准，名义 3588 不等同于实测步数。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13 / 27</a:t>
            </a: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3.1 逐臂实测指标（来自 execution/metrics.json 与各臂 eva</a:t>
            </a:r>
            <a:endParaRPr sz="28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luation.json）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臂 | improvement_db | RES | maxRES | PER_THD | parameters_real_equivalent | acti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ve_parameters_real_equivalent | optimizer_steps | seconds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A baseline_rerun | 17.17516 | 5.24577 | 9.18777 | 18.69 | 6784 | 4704 | 3289 | 3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92.60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B ca_pp_2term | 17.18968 | 5.23125 | 9.01284 | 18.71 | 4704 | 4704 | 3289 | 530.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77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C ca_pp_3term | 17.20984 | 5.21109 | 9.36964 | 18.74 | 4704 | 4704 | 3289 | 456.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14 / 27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3.1 逐臂实测指标（来自 execution/metrics.json 与各臂 eva</a:t>
            </a:r>
            <a:endParaRPr sz="28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luation.json）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59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D ca_k1_control | 17.17516 | 5.24577 | 9.18777 | 18.69 | 4704 | 4704 | 3289 | 34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9.58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指标方向与口径：improvement_db 越大越好；RES、maxRES 越小越好；PER_THD 为阈值口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径统计量（越高越好，具体定义见评测器 main.py::evaluate_saved）；parameters_real_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equivalent 为实数等效参数量（复数参数计 2）。PIM = 22.420933 四臂一致，rx_rank =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12 四臂一致，covered_points = 24564 / declared_points = 24576 四臂一致。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15 / 27</a:t>
            </a:r>
            <a:endParaRPr sz="10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3.2 主比较：C（3 项）− B（2 项）净差值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指标 | B (2term) | C (3term) | 净差值 (C−B) | 方向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improvement_db | 17.18968 | 17.20984 | +0.02016 | C 略优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RES | 5.23125 | 5.21109 | −0.02016 | C 略优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maxRES | 9.01284 | 9.36964 | +0.35681 | C 劣于 B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PER_THD | 18.71 | 18.74 | +0.03 | C 略优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parameters_real_equivalent | 4704 | 4704 | 0 | 不变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16 / 27</a:t>
            </a:r>
            <a:endParaRPr sz="10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3.3 判读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H1 成立：C 参数量 4704，与 B 相同；share_L30_across_terms:true 使 L30 维度 = R 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与 Npp 无关，故 2/3 项参数量在结构上相等。4704/6784 = 69.3% ≤ 80%（5427.2）。H2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在均值判据上成立：C−B 净差 +0.02016 dB ≥ 0，且 C = 17.20984 ≥ 门限 17.175。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但方向不一致：C 的 maxRES = 9.36964 是同组四臂中最大者，比 B 高 +0.35681 dB；而 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D（K=1 对照）与 A（基线）在 improvement_db/RES/maxRES/PER_THD 上逐字一致（均 17.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17516 / 5.24577 / 9.18777 / 18.69），说明 K=1 退化臂前向确与基线一致，D 的角色校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验通过。幅度评价：本轮净差值 +0.02 dB 与其他臂间/臂内散布（如 A 与 C 的 maxRES 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相差 0.18~0.36 dB）同量级，不足以在上述指标上支撑「带外镜像族带来实质性改善」的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强结论；也无法排除单 seed 的运行变差。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17 / 27</a:t>
            </a:r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4. 达标判定（沿用上一轮口径）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条件 | 门限 | C 实测 | 判定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参数量实数等效量 | ≤ 5427.2（= 6784 × 80%） | 4704 | 满足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improvement_db | ≥ 17.175 | 17.20984 | 满足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3term 相对 2term 净差值 | 报告项（无门限） | +0.02016 dB | 已报告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诊断 diagnosis/diagnosis.v1.md 记录 passed: true、confidence: 1.0、recommended_a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ction: Proceed to Writing with the successful run evidence。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18 / 27</a:t>
            </a:r>
            <a:endParaRPr sz="10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5. 证据链与复现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环节 | 产物 | 引用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方案 | experiment_plan.v1 | experiment/experiment_plan.approved.md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代码 | code_spec.v1 | coding/code_spec.approved.md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执行清单 | run_log.v1 | execution/run_log.approved.md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A 收据 | evaluation.json | execution/local_commands/A_baseline_rerun/e3fedb7c1db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d4cff91a088e035226974/evaluation.json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B 收据 | evaluation.json | execution/local_commands/B_ca_pp_2term/1a9da08782ae44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d3a1d3c8c8217945a9/evaluation.json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C 收据 | evaluation.json | execution/local_commands/C_ca_pp_3term/a3fac473a8c647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19 / 27</a:t>
            </a:r>
            <a:endParaRPr sz="10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5. 证据链与复现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ebafa0b190b826e75a/evaluation.json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D 收据 | evaluation.json | execution/local_commands/D_ca_k1_control/9ab8f6b3522a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42f895bdcf1ee362d009/evaluation.json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聚合指标 | metrics.json | execution/metrics.json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批次汇总 | batch_summary.json | execution/batch_summary.json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收敛曲线 | loss_curves_16.png | execution/loss_curves_16.png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代码仓与分支：项目代码仓 D:\a_documents\AGT\CDX\MARS_workspace\项目材料\baseline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7L（只读），实验分支 mars/2026-10-13T0140_pimc_ca_pp_3term_g1c17-f33b9e4125c8，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基线分支 mars/2026-10-11T1824_pimc_ca_sparsity_g1c17-f35e74ad6cc4，基线提交 b1fa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20 / 27</a:t>
            </a:r>
            <a:endParaRPr sz="10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5. 证据链与复现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4fd5d8d22d92ce015c295d8a1ebe40b1c03b。每臂输出目录（配置默认值与宿主实际作业目录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以 execution/job_files 为准）：A .../A_baseline_rerun/...、B .../B_ca_pp_2term/.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..、C .../C_ca_pp_3term/...、D .../D_ca_k1_control/...，各自含 evaluation.json、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training.csv、validation_signals.npz、channel_performance.csv、config.json、runt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ime_evidence.json、execution_receipt.json。复现说明：A/C 的 training.csv 哈希不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同（b0bce34... vs 06660f1c...）、validation_signals.npz 哈希不同（ffbafe48... vs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c747ef2e...），说明两臂虽配置除族基项外逐字一致，训练轨迹与验证信号并非逐字节可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复现——这与「不同 Npp 改变输入通道数」的机制一致（Npp=2 vs 3 使 TX 输入列数不同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），因此参数量相同不代表计算图相同。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21 / 27</a:t>
            </a:r>
            <a:endParaRPr sz="10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6.1 已验证结果（可确证）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四臂均完成，无失败（execution/batch_summary.json，failures=0）。C 在同快照、同 s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eed、同实际预算口径下满足合同达标口径（参数量 4704 ≤ 5427.2；improvement_db 17.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20984 ≥ 17.175）。C−B 净差值 +0.02016 dB，且 D（K=1）与 A（基线）四项指标逐字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一致，佐证执行入口与基线一致性。族中心/shift 三项自洽，tests/test_ca_pp_3term.py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 在真实配置上通过（coding/code_spec.approved.md 报告 65 passed）。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22 / 27</a:t>
            </a:r>
            <a:endParaRPr sz="10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6.2 待验证假设（不可据此断言必然改善或代码缺陷）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带外镜像族的正贡献幅度与显著性：单 seed、单 case 下 +0.02 dB 与指标散布同量级，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且 maxRES 反向（C 更高）表明可能在个别通道/峰值上引入干扰。建议多 seed（≥3）重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复 C 与 B，报告净差值的分布与置信区间。带外镜像族与观察带内 PIM 的相位/幅度耦合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机制，以及 share_L30_across_terms 共享映射是否限制了族基项的表达上限，均尚未通过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消融逐一隔离。未取得 loss_curves_16.png 的曲线标签与数值内容，故不宣称「单调收敛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」；收敛性判断应引用 training.csv 逐 step 记录。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23 / 27</a:t>
            </a:r>
            <a:endParaRPr sz="10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6.3 下一步所需验证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多 seed（42/其他）重复 A/B/C/D，以区分真实效应与运行变差。增加「仅带外镜像族、去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掉 IM3 带内族」的对照，判定镜像族信息的独立贡献。在 channel_performance.csv 层面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核查 C 的 maxRES 抬升来自哪些通道/方向，确认是否需要重加权。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24 / 27</a:t>
            </a:r>
            <a:endParaRPr sz="10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7. 结论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在本轮同代码快照、单 seed（42）、单数据集（singleband_g1_c17）、单 case（case17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）、实测 3289 步预算的统一口径下：把带外镜像族 [[0,2],[1,-1]] 纳入载波分辨 PP 族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基（2 项 → 3 项）后，参数量实数等效量保持 4704 不变，improvement_db 相对 2 项对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照净增 +0.02016 dB，达到合同门限 17.175（实测 17.20984），满足达标口径。 与此同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时，maxRES 出现 +0.357 dB 的反向变化，说明该结论仅适用于平均改善判据，峰残差维度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未获益。该结果登记为支持假设 H1/H2 的单次测量，不构成「带外镜像族普适有效」的推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广性结论。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本报告的所有数值均来自上文 chain_refs 所列真实作业收据与聚合指标，未引用上一轮任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何未证实实测量。数据与 Memory 材料仅作背景参考，不作为实验证据。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25 / 27</a:t>
            </a:r>
            <a:endParaRPr sz="1000"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已记录的训练曲线</a:t>
            </a:r>
            <a:endParaRPr sz="2800"/>
          </a:p>
        </p:txBody>
      </p:sp>
      <p:pic>
        <p:nvPicPr>
          <p:cNvPr id="4" name="Recorded curve"/>
          <p:cNvPicPr/>
          <p:nvPr/>
        </p:nvPicPr>
        <p:blipFill>
          <a:blip r:embed="image"/>
          <a:stretch>
            <a:fillRect/>
          </a:stretch>
        </p:blipFill>
        <p:spPr>
          <a:xfrm>
            <a:off x="962666" y="1500000"/>
            <a:ext cx="10266667" cy="440000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26 / 27</a:t>
            </a:r>
            <a:endParaRPr sz="1000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800">
                <a:solidFill>
                  <a:srgbClr val="18243A"/>
                </a:solidFill>
                <a:latin typeface="Arial"/>
                <a:ea typeface="Microsoft YaHei"/>
              </a:rPr>
              <a:t>来源与阅读说明</a:t>
            </a:r>
            <a:endParaRPr sz="2800"/>
          </a:p>
        </p:txBody>
      </p:sp>
      <p:sp>
        <p:nvSpPr>
          <p:cNvPr id="3" name="Text 3"/>
          <p:cNvSpPr txBox="1"/>
          <p:nvPr/>
        </p:nvSpPr>
        <p:spPr>
          <a:xfrm>
            <a:off x="700000" y="1500000"/>
            <a:ext cx="10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已审核报告：writing/research_report.approved.md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SHA-256：fc66e891388a12340689123baaa6ac0be468e4e306c626dfda46bf5532570058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PPT 保留报告内容，按页面换行。图像为已保存实验产物。</a:t>
            </a:r>
            <a:endParaRPr sz="2000"/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2000">
                <a:solidFill>
                  <a:srgbClr val="18243A"/>
                </a:solidFill>
                <a:latin typeface="Arial"/>
                <a:ea typeface="Microsoft YaHei"/>
              </a:rPr>
              <a:t>局限、假设与事实保持原报告表述，导出不进行新的科学判定。</a:t>
            </a:r>
            <a:endParaRPr sz="2000"/>
          </a:p>
        </p:txBody>
      </p:sp>
      <p:sp>
        <p:nvSpPr>
          <p:cNvPr id="5" name="Text 5"/>
          <p:cNvSpPr txBox="1"/>
          <p:nvPr/>
        </p:nvSpPr>
        <p:spPr>
          <a:xfrm>
            <a:off x="700000" y="6370000"/>
            <a:ext cx="108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zh-CN" sz="1000">
                <a:solidFill>
                  <a:srgbClr val="667085"/>
                </a:solidFill>
                <a:latin typeface="Arial"/>
                <a:ea typeface="Microsoft YaHei"/>
              </a:rPr>
              <a:t>MARS · 已审核研究报告                                      27 / 27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S Research">
  <a:themeElements>
    <a:clrScheme name="Research">
      <a:dk1>
        <a:srgbClr val="18243A"/>
      </a:dk1>
      <a:lt1>
        <a:srgbClr val="FFFFFF"/>
      </a:lt1>
      <a:dk2>
        <a:srgbClr val="334155"/>
      </a:dk2>
      <a:lt2>
        <a:srgbClr val="EEF2F6"/>
      </a:lt2>
      <a:accent1>
        <a:srgbClr val="475FA8"/>
      </a:accent1>
      <a:accent2>
        <a:srgbClr val="279685"/>
      </a:accent2>
      <a:accent3>
        <a:srgbClr val="BE7A34"/>
      </a:accent3>
      <a:accent4>
        <a:srgbClr val="8465A6"/>
      </a:accent4>
      <a:accent5>
        <a:srgbClr val="478DA6"/>
      </a:accent5>
      <a:accent6>
        <a:srgbClr val="B85B65"/>
      </a:accent6>
      <a:hlink>
        <a:srgbClr val="475FA8"/>
      </a:hlink>
      <a:folHlink>
        <a:srgbClr val="8465A6"/>
      </a:folHlink>
    </a:clrScheme>
    <a:fontScheme name="Arial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Research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